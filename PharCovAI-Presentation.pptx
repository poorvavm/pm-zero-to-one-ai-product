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going to walk you through PharCovAI — a compliance intelligence product that extends Infinitus Lens to solve a critical gap in pharmaceutical patient support operations.</a:t>
            </a:r>
          </a:p>
          <a:p/>
          <a:p>
            <a:r>
              <a:t>We'll cover the problem space, the product vision, our unique advantages, the MVP scope, and a 90-day pilot plan. I'll close with a live demo of the core product surfaces.</a:t>
            </a:r>
          </a:p>
          <a:p/>
          <a:p>
            <a:r>
              <a:t>This is an ideation paper and execution plan — I'm looking for your input on feasibility, design, and prioritization.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roadmap for our session. I've structured this to cover the problem, the product, and the plan in 25 minutes, with 5 minutes at the end for a live demo of the prototype.</a:t>
            </a:r>
          </a:p>
          <a:p/>
          <a:p>
            <a:r>
              <a:t>I encourage questions throughout — especially from engineering on feasibility and UX on workflow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core problem.</a:t>
            </a:r>
          </a:p>
          <a:p/>
          <a:p>
            <a:r>
              <a:t>Pharma patient support programs generate tens of thousands of interactions monthly. But manual QA teams typically staff just 1 reviewer per 500 to 1,000 calls. The result? Only 1 to 5 percent of conversations are ever reviewed.</a:t>
            </a:r>
          </a:p>
          <a:p/>
          <a:p>
            <a:r>
              <a:t>Studies show only 5 to 10 percent of adverse drug reactions are reported through spontaneous reporting systems. The FDA requires serious AE reports within 15 calendar days, and penalties for missing that window can reach into the hundreds of millions.</a:t>
            </a:r>
          </a:p>
          <a:p/>
          <a:p>
            <a:r>
              <a:t>Every unreviewed conversation is a potential unreported adverse event. That's not a quality problem — it's a structural one. And it's getting worse as AI agents enter these conversations without centralized oversight.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failure chain works in practice.</a:t>
            </a:r>
          </a:p>
          <a:p/>
          <a:p>
            <a:r>
              <a:t>Step 1: A patient mentions a symptom or side effect during a support call.</a:t>
            </a:r>
          </a:p>
          <a:p>
            <a:r>
              <a:t>Step 2: The agent — whether human or AI — either misses the signal or logs it inconsistently.</a:t>
            </a:r>
          </a:p>
          <a:p>
            <a:r>
              <a:t>Step 3: That interaction enters a QA backlog where it may never be sampled.</a:t>
            </a:r>
          </a:p>
          <a:p>
            <a:r>
              <a:t>Step 4: The adverse event goes unreported, potentially breaching the FDA's 15-day window.</a:t>
            </a:r>
          </a:p>
          <a:p>
            <a:r>
              <a:t>Step 5: The gap is only discovered during an audit — weeks or months later.</a:t>
            </a:r>
          </a:p>
          <a:p/>
          <a:p>
            <a:r>
              <a:t>And there's a compounding factor: AI agents now handle a growing share of these interactions, but most organizations have zero centralized monitoring of what the AI said, whether it followed the script, or whether it surfaced a potential AE correctly. That's the AI governance vacuum.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pharmacovigilance market is valued at over 10 billion dollars in 2025 and projected to reach 22 billion by 2034 — growing at nearly 9% CAGR. AI-driven automation is a key growth driver. EVERSANA has already demonstrated 50% faster operations with 40% less manual effort using AI-powered PV.</a:t>
            </a:r>
          </a:p>
          <a:p/>
          <a:p>
            <a:r>
              <a:t>But here's the important insight: no healthcare-native, AI-powered compliance intelligence platform exists today.</a:t>
            </a:r>
          </a:p>
          <a:p/>
          <a:p>
            <a:r>
              <a:t>Pharma companies face three paths: build internally, which takes 12-18 months and diverts engineering resources. Buy generic tools like Observe.AI or CallMiner, which aren't healthcare-native and lack PV taxonomy. Or extend with Infinitus — where we can leverage our existing infrastructure for a 90-day pilot.</a:t>
            </a:r>
          </a:p>
          <a:p/>
          <a:p>
            <a:r>
              <a:t>The extend path is uniquely available through us because our foundational layers already exist.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is straightforward: transition pharma customers from reviewing 5% of conversations to evaluating 100% — while maintaining human oversight for all regulatory determinations.</a:t>
            </a:r>
          </a:p>
          <a:p/>
          <a:p>
            <a:r>
              <a:t>Look at the before and after. Today, AE detection relies on agent self-reporting and random audits, taking days to weeks. With PharCovAI, we flag potential adverse events within minutes with full evidence.</a:t>
            </a:r>
          </a:p>
          <a:p/>
          <a:p>
            <a:r>
              <a:t>Four design principles govern our trade-offs:</a:t>
            </a:r>
          </a:p>
          <a:p>
            <a:r>
              <a:t>1. Recall over precision — better to over-flag than miss a reportable event. We target 97% recall even if it means more false positives.</a:t>
            </a:r>
          </a:p>
          <a:p>
            <a:r>
              <a:t>2. Human-in-the-loop — AI never makes a final compliance call. Every flagged event routes to a human reviewer.</a:t>
            </a:r>
          </a:p>
          <a:p>
            <a:r>
              <a:t>3. Audit trail by default — every action is logged immutably. This is an architectural constraint, not a feature.</a:t>
            </a:r>
          </a:p>
          <a:p>
            <a:r>
              <a:t>4. Channel-agnostic — we analyze voice, SMS, email, and AI-agent interactions through a unified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should Infinitus build this, and why now? Four signals are converging:</a:t>
            </a:r>
          </a:p>
          <a:p/>
          <a:p>
            <a:r>
              <a:t>First, AI agents are entering regulated conversations at scale. Every AI-handled interaction creates a new compliance surface without corresponding oversight.</a:t>
            </a:r>
          </a:p>
          <a:p/>
          <a:p>
            <a:r>
              <a:t>Second, LLM capabilities have crossed the accuracy threshold. High-recall AE detection at 95% or better is now achievable without overwhelming reviewers.</a:t>
            </a:r>
          </a:p>
          <a:p/>
          <a:p>
            <a:r>
              <a:t>Third, regulators are signaling intent. The FDA's evolving AI framework and the EU AI Act's high-risk classification tell us companies deploying AI in patient-facing roles will need centralized monitoring.</a:t>
            </a:r>
          </a:p>
          <a:p/>
          <a:p>
            <a:r>
              <a:t>Fourth — and this is our key advantage — Infinitus already has the infrastructure. We've processed over 100 million minutes of conversations, 7 million calls, across 1,000+ therapies. We serve 44% of the healthcare Fortune 50. This is an extension, not a greenfield build. A competitor would need 18-24 months to replicate what we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personas interact with PharCovAI, but our MVP is laser-focused on the PV Specialist.</a:t>
            </a:r>
          </a:p>
          <a:p/>
          <a:p>
            <a:r>
              <a:t>The PV Specialist is our primary user. They review AI-flagged cases, make confirm/dismiss/escalate decisions, and we're targeting under 4 minutes per case — down from 15-20 minutes with manual review.</a:t>
            </a:r>
          </a:p>
          <a:p/>
          <a:p>
            <a:r>
              <a:t>The Operations Lead monitors SOP adherence and makes agent coaching decisions. They come in with V1.5.</a:t>
            </a:r>
          </a:p>
          <a:p/>
          <a:p>
            <a:r>
              <a:t>The Compliance VP is our economic buyer — they own regulatory risk, audit readiness, and vendor procurement decisions.</a:t>
            </a:r>
          </a:p>
          <a:p/>
          <a:p>
            <a:r>
              <a:t>IT and Security are gatekeepers for HIPAA validation and SSO configuration.</a:t>
            </a:r>
          </a:p>
          <a:p/>
          <a:p>
            <a:r>
              <a:t>For the MVP, we focus entirely on the PV Specialist workflow. If we nail their experience, the other personas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MVP is scoped around one principle: deliver a complete AE detection workflow before expanding.</a:t>
            </a:r>
          </a:p>
          <a:p/>
          <a:p>
            <a:r>
              <a:t>F1 through F6 form a dependency chain — each feature is useless without the one before it.</a:t>
            </a:r>
          </a:p>
          <a:p/>
          <a:p>
            <a:r>
              <a:t>You need ingestion before detection, detection before a reviewer workflow, reviewer decisions before audit readiness, and a case to act on before remediation.</a:t>
            </a:r>
          </a:p>
          <a:p/>
          <a:p>
            <a:r>
              <a:t>F1: Voice call ingestion — this is the dominant channel.</a:t>
            </a:r>
          </a:p>
          <a:p>
            <a:r>
              <a:t>F2: AE detection engine — high-recall classification, the core of the product.</a:t>
            </a:r>
          </a:p>
          <a:p>
            <a:r>
              <a:t>F3: Case queue — severity-prioritized triage for reviewers.</a:t>
            </a:r>
          </a:p>
          <a:p>
            <a:r>
              <a:t>F4: Case detail view — transcript evidence, audio, and pre-populated MedWatch fields.</a:t>
            </a:r>
          </a:p>
          <a:p>
            <a:r>
              <a:t>F5: Audit-ready export — regulatory export packages.</a:t>
            </a:r>
          </a:p>
          <a:p>
            <a:r>
              <a:t>F6: Studio integration — closes the detection-to-action loop.</a:t>
            </a:r>
          </a:p>
          <a:p/>
          <a:p>
            <a:r>
              <a:t>Everything outside this chain — SOP scoring, multi-channel support, PV system integration — ships in V1.5 after the pilot validates the foundation.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core reviewer workflow.</a:t>
            </a:r>
          </a:p>
          <a:p/>
          <a:p>
            <a:r>
              <a:t>Step 1: A conversation is ingested — for MVP, voice calls.</a:t>
            </a:r>
          </a:p>
          <a:p>
            <a:r>
              <a:t>Step 2: AI analysis runs AE detection, severity scoring, and MedWatch field extraction.</a:t>
            </a:r>
          </a:p>
          <a:p>
            <a:r>
              <a:t>Step 3: Flagged cases appear in the Triage Queue, prioritized by severity.</a:t>
            </a:r>
          </a:p>
          <a:p>
            <a:r>
              <a:t>Step 4: The reviewer clicks into a case and sees transcript, audio evidence, and AI reasoning in one view.</a:t>
            </a:r>
          </a:p>
          <a:p>
            <a:r>
              <a:t>Step 5: They make a decision — Confirm, Dismiss, or Escalate.</a:t>
            </a:r>
          </a:p>
          <a:p>
            <a:r>
              <a:t>Step 6: Every action is immutably logged in the audit trail.</a:t>
            </a:r>
          </a:p>
          <a:p/>
          <a:p>
            <a:r>
              <a:t>There are two core product surfaces: the Triage Queue for deciding what to review next, and the Case Detail View for making the actual regulatory determination. I'll show both of these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Pharma onboarding is different from standard SaaS. Before a single conversation flows through the system, three things must be true: legal clearance with executed BAA and DPA agreements, data trust demonstrated on the customer's own conversation data, and workflow fit that matches how reviewers already work.</a:t>
            </a:r>
          </a:p>
          <a:p/>
          <a:p>
            <a:r>
              <a:t>We've structured onboarding into five gated phases, each with clear criteria to advance.</a:t>
            </a:r>
          </a:p>
          <a:p/>
          <a:p>
            <a:r>
              <a:t>The most critical moment is what I call the First Value Moment — the first time a reviewer opens a real case flagged by PharCovAI on their own data and says 'yes, this is a real signal I would have missed.' If that happens, adoption follows. We target this within 5-7 weeks of contract signature.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90-day pilot is designed to validate the product with two existing Infinitus pharma customers. Each partner contributes one therapy program, voice-only for MVP, processing roughly 3,000 conversations per week with 2 PV analysts per partner.</a:t>
            </a:r>
          </a:p>
          <a:p/>
          <a:p>
            <a:r>
              <a:t>Four tracks run in parallel:</a:t>
            </a:r>
          </a:p>
          <a:p>
            <a:r>
              <a:t>- Discovery and UX runs weeks 1 through 4</a:t>
            </a:r>
          </a:p>
          <a:p>
            <a:r>
              <a:t>- Engineering runs weeks 1 through 9 — the longest track</a:t>
            </a:r>
          </a:p>
          <a:p>
            <a:r>
              <a:t>- Legal and compliance is a focused sprint in weeks 4-5 to fast-track BAA and DPA</a:t>
            </a:r>
          </a:p>
          <a:p>
            <a:r>
              <a:t>- Pilot operations run weeks 7 through 12 — this is live production with real conversations</a:t>
            </a:r>
          </a:p>
          <a:p/>
          <a:p>
            <a:r>
              <a:t>The parallel structure means we're not blocked sequentially. Engineering starts building while UX is still validating designs.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success metrics are organized into three tiers, and they are not equal.</a:t>
            </a:r>
          </a:p>
          <a:p/>
          <a:p>
            <a:r>
              <a:t>Tier 1 — Safety: These are non-negotiable gates. If any safety metric fails, the pilot stops. We need at least 97% AE recall, 100% reporting within FDA windows, 99.5% conversation coverage, and zero misconfiguration incidents.</a:t>
            </a:r>
          </a:p>
          <a:p/>
          <a:p>
            <a:r>
              <a:t>Tier 2 — Quality: These are optimization targets. If we hit 60% precision instead of 70%, we iterate on the model — we don't terminate the pilot. Same for reviewer agreement, false positive rate, and time-to-flag.</a:t>
            </a:r>
          </a:p>
          <a:p/>
          <a:p>
            <a:r>
              <a:t>Tier 3 — Business: These are commercial signals measured at pilot end. Reviewer time-to-decision under 4 minutes, NPS of +20 or better, and both partners committing to paid conversion.</a:t>
            </a:r>
          </a:p>
          <a:p/>
          <a:p>
            <a:r>
              <a:t>The critical distinction: safety failures stop the pilot. Quality misses trigger engineering iteration. Business metrics inform the commercialization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end of Week 12, we hold a Go/No-Go review with Infinitus leadership and pilot partner compliance leads. Three outcomes:</a:t>
            </a:r>
          </a:p>
          <a:p/>
          <a:p>
            <a:r>
              <a:t>GO — if AE recall is at or above 97%, no production misses, time-to-decision under 4 minutes, and both partners commit. We convert to paid, begin V1.5 planning, and publish an internal case study.</a:t>
            </a:r>
          </a:p>
          <a:p/>
          <a:p>
            <a:r>
              <a:t>CONDITIONAL GO — if most criteria are met but 1-2 non-safety metrics fall short. For example, recall hits 97% but precision is at 60% instead of 70%. We get a 4-week remediation cycle with specific named fixes, then re-evaluate at Week 16 as a binary Go/No-Go.</a:t>
            </a:r>
          </a:p>
          <a:p/>
          <a:p>
            <a:r>
              <a:t>NO-GO — if recall drops below 93%, there's a confirmed production miss, false positives exceed 30%, or compliance counsel blocks us. We do a post-mortem, preserve the data and model weights, and re-evaluate in 6 months.</a:t>
            </a:r>
          </a:p>
          <a:p/>
          <a:p>
            <a:r>
              <a:t>The critical rule: safety metrics must ALL pass. There's no Conditional Go for safety failures.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beyond the pilot, here's the quarterly roadmap.</a:t>
            </a:r>
          </a:p>
          <a:p/>
          <a:p>
            <a:r>
              <a:t>Q1 is the pilot we've been discussing — build MVP, onboard 2 partners, validate AE detection.</a:t>
            </a:r>
          </a:p>
          <a:p/>
          <a:p>
            <a:r>
              <a:t>Q2 is commercialization — convert partners to paid, close 2-3 new customers, and begin V1.5 development.</a:t>
            </a:r>
          </a:p>
          <a:p/>
          <a:p>
            <a:r>
              <a:t>Q3 is expansion — launch V1.5 with SOP scoring and multi-channel support, and grow within existing customers.</a:t>
            </a:r>
          </a:p>
          <a:p/>
          <a:p>
            <a:r>
              <a:t>Q4 is scale — launch V2 with fax and multilingual support, build the sales playbook, and establish a customer advisory board.</a:t>
            </a:r>
          </a:p>
          <a:p/>
          <a:p>
            <a:r>
              <a:t>The 24-month north star: PharCovAI becomes the system of record for AI-enabled pharmacovigilance across Infinitus's pharma customer base.</a:t>
            </a:r>
          </a:p>
          <a:p/>
          <a:p>
            <a:r>
              <a:t>Three things make this compelling: the market is large and underserved, we have an 18-24 month head start, and the window is time-bounded — the company that establishes the governance layer during this AI adoption wave becomes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proceed, we need five things:</a:t>
            </a:r>
          </a:p>
          <a:p/>
          <a:p>
            <a:r>
              <a:t>1. Engineering allocation — a dedicated team of 4 to 6 engineers for 12 weeks. This is not a side project.</a:t>
            </a:r>
          </a:p>
          <a:p/>
          <a:p>
            <a:r>
              <a:t>2. Data science support — 1 to 2 ML engineers for AE model development and calibration on customer data.</a:t>
            </a:r>
          </a:p>
          <a:p/>
          <a:p>
            <a:r>
              <a:t>3. Pilot partner commitment — executive sponsorship to engage 2 existing pharma customers. These should be customers with active patient support programs.</a:t>
            </a:r>
          </a:p>
          <a:p/>
          <a:p>
            <a:r>
              <a:t>4. Legal fast-track — priority BAA and DPA review starting Week 1, not queued behind other deals. Legal clearance is on the critical path.</a:t>
            </a:r>
          </a:p>
          <a:p/>
          <a:p>
            <a:r>
              <a:t>5. Go/No-Go authority — a named decision-maker for the Week 12 review. We need clear accountability for the outcome.</a:t>
            </a:r>
          </a:p>
          <a:p/>
          <a:p>
            <a:r>
              <a:t>And I want to highlight the cost of inaction. If we don't build this, our customers will build it internally. Generic platforms will add surface-level compliance features. And the AI governance window will close — making this opportunity significantly harder in 12 months.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switch to the live demo.</a:t>
            </a:r>
          </a:p>
          <a:p/>
          <a:p>
            <a:r>
              <a:t>I'll walk through the three product surfaces:</a:t>
            </a:r>
          </a:p>
          <a:p/>
          <a:p>
            <a:r>
              <a:t>First, the Lens Dashboard — this is the entry point into PharCovAI, integrated into the existing Infinitus Lens navigation.</a:t>
            </a:r>
          </a:p>
          <a:p/>
          <a:p>
            <a:r>
              <a:t>Second, the Triage Queue — where reviewers see AI-flagged adverse event cases sorted by severity, with confidence scores and SLA countdown timers.</a:t>
            </a:r>
          </a:p>
          <a:p/>
          <a:p>
            <a:r>
              <a:t>Third, the Case Detail View — where the actual regulatory determination happens. I'll show you the highlighted transcript with the AI-detected adverse event, the pre-populated MedWatch fields, and the confirm/dismiss/escalate workflow.</a:t>
            </a:r>
          </a:p>
          <a:p/>
          <a:p>
            <a:r>
              <a:t>Let me open the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Let me leave you with three takeaways:</a:t>
            </a:r>
          </a:p>
          <a:p/>
          <a:p>
            <a:r>
              <a:t>First, this is a 10 billion dollar market with no healthcare-native AI compliance platform. The opportunity is real and growing at 9% annually.</a:t>
            </a:r>
          </a:p>
          <a:p/>
          <a:p>
            <a:r>
              <a:t>Second, we can validate the product in 90 days with 2 existing partners. The pilot plan is concrete, the metrics are defined, and the decision framework is clear.</a:t>
            </a:r>
          </a:p>
          <a:p/>
          <a:p>
            <a:r>
              <a:t>Third, Infinitus has an 18-24 month head start. Our data moat, infrastructure, customer trust, and domain expertise compound in ways that are extremely difficult to replicate.</a:t>
            </a:r>
          </a:p>
          <a:p/>
          <a:p>
            <a:r>
              <a:t>I'm looking for your input on three things: engineering feasibility, UX workflow design, and whether this strategic direction resonates.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l">
              <a:lnSpc>
                <a:spcPts val="6480"/>
              </a:lnSpc>
              <a:spcAft>
                <a:spcPts val="0"/>
              </a:spcAft>
              <a:defRPr sz="5400" b="1">
                <a:solidFill>
                  <a:srgbClr val="0F172A"/>
                </a:solidFill>
                <a:latin typeface="Calibri"/>
              </a:defRPr>
            </a:pPr>
            <a:r>
              <a:t>PharCovAI</a:t>
            </a:r>
          </a:p>
        </p:txBody>
      </p:sp>
      <p:sp>
        <p:nvSpPr>
          <p:cNvPr id="4" name="TextBox 3"/>
          <p:cNvSpPr txBox="1"/>
          <p:nvPr/>
        </p:nvSpPr>
        <p:spPr>
          <a:xfrm>
            <a:off x="914400" y="2560320"/>
            <a:ext cx="10058400" cy="731520"/>
          </a:xfrm>
          <a:prstGeom prst="rect">
            <a:avLst/>
          </a:prstGeom>
          <a:noFill/>
        </p:spPr>
        <p:txBody>
          <a:bodyPr wrap="square">
            <a:spAutoFit/>
          </a:bodyPr>
          <a:lstStyle/>
          <a:p>
            <a:pPr algn="l">
              <a:lnSpc>
                <a:spcPts val="2879"/>
              </a:lnSpc>
              <a:spcAft>
                <a:spcPts val="0"/>
              </a:spcAft>
              <a:defRPr sz="2400" b="0">
                <a:solidFill>
                  <a:srgbClr val="0D9488"/>
                </a:solidFill>
                <a:latin typeface="Calibri"/>
              </a:defRPr>
            </a:pPr>
            <a:r>
              <a:t>AI-Powered Pharmacovigilance &amp; Compliance Intelligence</a:t>
            </a:r>
          </a:p>
        </p:txBody>
      </p:sp>
      <p:sp>
        <p:nvSpPr>
          <p:cNvPr id="5" name="Rectangle 4"/>
          <p:cNvSpPr/>
          <p:nvPr/>
        </p:nvSpPr>
        <p:spPr>
          <a:xfrm>
            <a:off x="914400" y="3474720"/>
            <a:ext cx="182880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49039"/>
            <a:ext cx="7315200" cy="457200"/>
          </a:xfrm>
          <a:prstGeom prst="rect">
            <a:avLst/>
          </a:prstGeom>
          <a:noFill/>
        </p:spPr>
        <p:txBody>
          <a:bodyPr wrap="square">
            <a:spAutoFit/>
          </a:bodyPr>
          <a:lstStyle/>
          <a:p>
            <a:pPr algn="l">
              <a:lnSpc>
                <a:spcPts val="2160"/>
              </a:lnSpc>
              <a:spcAft>
                <a:spcPts val="0"/>
              </a:spcAft>
              <a:defRPr sz="1800" b="0">
                <a:solidFill>
                  <a:srgbClr val="6B7280"/>
                </a:solidFill>
                <a:latin typeface="Calibri"/>
              </a:defRPr>
            </a:pPr>
            <a:r>
              <a:t>Extending Infinitus Lens for Pharmaceutical Manufacturers</a:t>
            </a:r>
          </a:p>
        </p:txBody>
      </p:sp>
      <p:sp>
        <p:nvSpPr>
          <p:cNvPr id="7" name="TextBox 6"/>
          <p:cNvSpPr txBox="1"/>
          <p:nvPr/>
        </p:nvSpPr>
        <p:spPr>
          <a:xfrm>
            <a:off x="914400" y="5029200"/>
            <a:ext cx="7315200" cy="36576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Poorva Mittal  |  Product Manager, AI Solutions</a:t>
            </a:r>
          </a:p>
        </p:txBody>
      </p:sp>
      <p:sp>
        <p:nvSpPr>
          <p:cNvPr id="8" name="Rectangle 7"/>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Agenda</a:t>
            </a:r>
          </a:p>
        </p:txBody>
      </p:sp>
      <p:sp>
        <p:nvSpPr>
          <p:cNvPr id="3" name="Rectangle 2"/>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554480"/>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01</a:t>
            </a:r>
          </a:p>
        </p:txBody>
      </p:sp>
      <p:sp>
        <p:nvSpPr>
          <p:cNvPr id="5" name="TextBox 4"/>
          <p:cNvSpPr txBox="1"/>
          <p:nvPr/>
        </p:nvSpPr>
        <p:spPr>
          <a:xfrm>
            <a:off x="1691640" y="1572768"/>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The Problem</a:t>
            </a:r>
          </a:p>
        </p:txBody>
      </p:sp>
      <p:sp>
        <p:nvSpPr>
          <p:cNvPr id="6" name="TextBox 5"/>
          <p:cNvSpPr txBox="1"/>
          <p:nvPr/>
        </p:nvSpPr>
        <p:spPr>
          <a:xfrm>
            <a:off x="4572000" y="1600200"/>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Why pharma compliance is broken today</a:t>
            </a:r>
          </a:p>
        </p:txBody>
      </p:sp>
      <p:sp>
        <p:nvSpPr>
          <p:cNvPr id="7" name="Rounded Rectangle 6"/>
          <p:cNvSpPr/>
          <p:nvPr/>
        </p:nvSpPr>
        <p:spPr>
          <a:xfrm>
            <a:off x="914400" y="2121408"/>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02</a:t>
            </a:r>
          </a:p>
        </p:txBody>
      </p:sp>
      <p:sp>
        <p:nvSpPr>
          <p:cNvPr id="8" name="TextBox 7"/>
          <p:cNvSpPr txBox="1"/>
          <p:nvPr/>
        </p:nvSpPr>
        <p:spPr>
          <a:xfrm>
            <a:off x="1691640" y="2139696"/>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Product Vision</a:t>
            </a:r>
          </a:p>
        </p:txBody>
      </p:sp>
      <p:sp>
        <p:nvSpPr>
          <p:cNvPr id="9" name="TextBox 8"/>
          <p:cNvSpPr txBox="1"/>
          <p:nvPr/>
        </p:nvSpPr>
        <p:spPr>
          <a:xfrm>
            <a:off x="4572000" y="2167128"/>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From 5% to 100% conversation coverage</a:t>
            </a:r>
          </a:p>
        </p:txBody>
      </p:sp>
      <p:sp>
        <p:nvSpPr>
          <p:cNvPr id="10" name="Rounded Rectangle 9"/>
          <p:cNvSpPr/>
          <p:nvPr/>
        </p:nvSpPr>
        <p:spPr>
          <a:xfrm>
            <a:off x="914400" y="2688336"/>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03</a:t>
            </a:r>
          </a:p>
        </p:txBody>
      </p:sp>
      <p:sp>
        <p:nvSpPr>
          <p:cNvPr id="11" name="TextBox 10"/>
          <p:cNvSpPr txBox="1"/>
          <p:nvPr/>
        </p:nvSpPr>
        <p:spPr>
          <a:xfrm>
            <a:off x="1691640" y="2706624"/>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Why Infinitus</a:t>
            </a:r>
          </a:p>
        </p:txBody>
      </p:sp>
      <p:sp>
        <p:nvSpPr>
          <p:cNvPr id="12" name="TextBox 11"/>
          <p:cNvSpPr txBox="1"/>
          <p:nvPr/>
        </p:nvSpPr>
        <p:spPr>
          <a:xfrm>
            <a:off x="4572000" y="2734056"/>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Our moat and market timing</a:t>
            </a:r>
          </a:p>
        </p:txBody>
      </p:sp>
      <p:sp>
        <p:nvSpPr>
          <p:cNvPr id="13" name="Rounded Rectangle 12"/>
          <p:cNvSpPr/>
          <p:nvPr/>
        </p:nvSpPr>
        <p:spPr>
          <a:xfrm>
            <a:off x="914400" y="3255264"/>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04</a:t>
            </a:r>
          </a:p>
        </p:txBody>
      </p:sp>
      <p:sp>
        <p:nvSpPr>
          <p:cNvPr id="14" name="TextBox 13"/>
          <p:cNvSpPr txBox="1"/>
          <p:nvPr/>
        </p:nvSpPr>
        <p:spPr>
          <a:xfrm>
            <a:off x="1691640" y="3273552"/>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MVP Scope</a:t>
            </a:r>
          </a:p>
        </p:txBody>
      </p:sp>
      <p:sp>
        <p:nvSpPr>
          <p:cNvPr id="15" name="TextBox 14"/>
          <p:cNvSpPr txBox="1"/>
          <p:nvPr/>
        </p:nvSpPr>
        <p:spPr>
          <a:xfrm>
            <a:off x="4572000" y="3300984"/>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V1 features and dependency chain</a:t>
            </a:r>
          </a:p>
        </p:txBody>
      </p:sp>
      <p:sp>
        <p:nvSpPr>
          <p:cNvPr id="16" name="Rounded Rectangle 15"/>
          <p:cNvSpPr/>
          <p:nvPr/>
        </p:nvSpPr>
        <p:spPr>
          <a:xfrm>
            <a:off x="914400" y="3822192"/>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05</a:t>
            </a:r>
          </a:p>
        </p:txBody>
      </p:sp>
      <p:sp>
        <p:nvSpPr>
          <p:cNvPr id="17" name="TextBox 16"/>
          <p:cNvSpPr txBox="1"/>
          <p:nvPr/>
        </p:nvSpPr>
        <p:spPr>
          <a:xfrm>
            <a:off x="1691640" y="3840480"/>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Product Experience</a:t>
            </a:r>
          </a:p>
        </p:txBody>
      </p:sp>
      <p:sp>
        <p:nvSpPr>
          <p:cNvPr id="18" name="TextBox 17"/>
          <p:cNvSpPr txBox="1"/>
          <p:nvPr/>
        </p:nvSpPr>
        <p:spPr>
          <a:xfrm>
            <a:off x="4572000" y="3867912"/>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Core workflow and surfaces</a:t>
            </a:r>
          </a:p>
        </p:txBody>
      </p:sp>
      <p:sp>
        <p:nvSpPr>
          <p:cNvPr id="19" name="Rounded Rectangle 18"/>
          <p:cNvSpPr/>
          <p:nvPr/>
        </p:nvSpPr>
        <p:spPr>
          <a:xfrm>
            <a:off x="914400" y="4389120"/>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06</a:t>
            </a:r>
          </a:p>
        </p:txBody>
      </p:sp>
      <p:sp>
        <p:nvSpPr>
          <p:cNvPr id="20" name="TextBox 19"/>
          <p:cNvSpPr txBox="1"/>
          <p:nvPr/>
        </p:nvSpPr>
        <p:spPr>
          <a:xfrm>
            <a:off x="1691640" y="4407408"/>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Go-to-Market</a:t>
            </a:r>
          </a:p>
        </p:txBody>
      </p:sp>
      <p:sp>
        <p:nvSpPr>
          <p:cNvPr id="21" name="TextBox 20"/>
          <p:cNvSpPr txBox="1"/>
          <p:nvPr/>
        </p:nvSpPr>
        <p:spPr>
          <a:xfrm>
            <a:off x="4572000" y="4434840"/>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Onboarding, pilot plan, and success metrics</a:t>
            </a:r>
          </a:p>
        </p:txBody>
      </p:sp>
      <p:sp>
        <p:nvSpPr>
          <p:cNvPr id="22" name="Rounded Rectangle 21"/>
          <p:cNvSpPr/>
          <p:nvPr/>
        </p:nvSpPr>
        <p:spPr>
          <a:xfrm>
            <a:off x="914400" y="4956048"/>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07</a:t>
            </a:r>
          </a:p>
        </p:txBody>
      </p:sp>
      <p:sp>
        <p:nvSpPr>
          <p:cNvPr id="23" name="TextBox 22"/>
          <p:cNvSpPr txBox="1"/>
          <p:nvPr/>
        </p:nvSpPr>
        <p:spPr>
          <a:xfrm>
            <a:off x="1691640" y="4974336"/>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The Ask</a:t>
            </a:r>
          </a:p>
        </p:txBody>
      </p:sp>
      <p:sp>
        <p:nvSpPr>
          <p:cNvPr id="24" name="TextBox 23"/>
          <p:cNvSpPr txBox="1"/>
          <p:nvPr/>
        </p:nvSpPr>
        <p:spPr>
          <a:xfrm>
            <a:off x="4572000" y="5001768"/>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What we need to proceed</a:t>
            </a:r>
          </a:p>
        </p:txBody>
      </p:sp>
      <p:sp>
        <p:nvSpPr>
          <p:cNvPr id="25" name="Rounded Rectangle 24"/>
          <p:cNvSpPr/>
          <p:nvPr/>
        </p:nvSpPr>
        <p:spPr>
          <a:xfrm>
            <a:off x="914400" y="5522976"/>
            <a:ext cx="59436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08</a:t>
            </a:r>
          </a:p>
        </p:txBody>
      </p:sp>
      <p:sp>
        <p:nvSpPr>
          <p:cNvPr id="26" name="TextBox 25"/>
          <p:cNvSpPr txBox="1"/>
          <p:nvPr/>
        </p:nvSpPr>
        <p:spPr>
          <a:xfrm>
            <a:off x="1691640" y="5541264"/>
            <a:ext cx="27432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Live Demo</a:t>
            </a:r>
          </a:p>
        </p:txBody>
      </p:sp>
      <p:sp>
        <p:nvSpPr>
          <p:cNvPr id="27" name="TextBox 26"/>
          <p:cNvSpPr txBox="1"/>
          <p:nvPr/>
        </p:nvSpPr>
        <p:spPr>
          <a:xfrm>
            <a:off x="4572000" y="5568696"/>
            <a:ext cx="5486400" cy="365760"/>
          </a:xfrm>
          <a:prstGeom prst="rect">
            <a:avLst/>
          </a:prstGeom>
          <a:noFill/>
        </p:spPr>
        <p:txBody>
          <a:bodyPr wrap="square">
            <a:spAutoFit/>
          </a:bodyPr>
          <a:lstStyle/>
          <a:p>
            <a:pPr algn="l">
              <a:lnSpc>
                <a:spcPts val="1680"/>
              </a:lnSpc>
              <a:spcAft>
                <a:spcPts val="0"/>
              </a:spcAft>
              <a:defRPr sz="1400" b="0">
                <a:solidFill>
                  <a:srgbClr val="6B7280"/>
                </a:solidFill>
                <a:latin typeface="Calibri"/>
              </a:defRPr>
            </a:pPr>
            <a:r>
              <a:t>Interactive prototype walkthrough</a:t>
            </a:r>
          </a:p>
        </p:txBody>
      </p:sp>
      <p:sp>
        <p:nvSpPr>
          <p:cNvPr id="28" name="Rounded Rectangle 27"/>
          <p:cNvSpPr/>
          <p:nvPr/>
        </p:nvSpPr>
        <p:spPr>
          <a:xfrm>
            <a:off x="9601200" y="5943600"/>
            <a:ext cx="2011680" cy="4114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25 min talk + 5 min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01</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The Compliance Blind Spot</a:t>
            </a:r>
          </a:p>
        </p:txBody>
      </p:sp>
      <p:sp>
        <p:nvSpPr>
          <p:cNvPr id="4" name="Rectangle 3"/>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920240" cy="822960"/>
          </a:xfrm>
          <a:prstGeom prst="rect">
            <a:avLst/>
          </a:prstGeom>
          <a:noFill/>
        </p:spPr>
        <p:txBody>
          <a:bodyPr wrap="square">
            <a:spAutoFit/>
          </a:bodyPr>
          <a:lstStyle/>
          <a:p>
            <a:pPr algn="ctr">
              <a:lnSpc>
                <a:spcPts val="4320"/>
              </a:lnSpc>
              <a:spcAft>
                <a:spcPts val="0"/>
              </a:spcAft>
              <a:defRPr sz="3600" b="1">
                <a:solidFill>
                  <a:srgbClr val="DC2626"/>
                </a:solidFill>
                <a:latin typeface="Calibri"/>
              </a:defRPr>
            </a:pPr>
            <a:r>
              <a:t>1–5%</a:t>
            </a:r>
          </a:p>
        </p:txBody>
      </p:sp>
      <p:sp>
        <p:nvSpPr>
          <p:cNvPr id="7" name="TextBox 6"/>
          <p:cNvSpPr txBox="1"/>
          <p:nvPr/>
        </p:nvSpPr>
        <p:spPr>
          <a:xfrm>
            <a:off x="914400" y="292608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Conversations</a:t>
            </a:r>
            <a:br/>
            <a:r>
              <a:t>Reviewed Today</a:t>
            </a:r>
          </a:p>
        </p:txBody>
      </p:sp>
      <p:sp>
        <p:nvSpPr>
          <p:cNvPr id="8" name="Rounded Rectangle 7"/>
          <p:cNvSpPr/>
          <p:nvPr/>
        </p:nvSpPr>
        <p:spPr>
          <a:xfrm>
            <a:off x="3383280" y="182880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103120"/>
            <a:ext cx="1920240" cy="822960"/>
          </a:xfrm>
          <a:prstGeom prst="rect">
            <a:avLst/>
          </a:prstGeom>
          <a:noFill/>
        </p:spPr>
        <p:txBody>
          <a:bodyPr wrap="square">
            <a:spAutoFit/>
          </a:bodyPr>
          <a:lstStyle/>
          <a:p>
            <a:pPr algn="ctr">
              <a:lnSpc>
                <a:spcPts val="4320"/>
              </a:lnSpc>
              <a:spcAft>
                <a:spcPts val="0"/>
              </a:spcAft>
              <a:defRPr sz="3600" b="1">
                <a:solidFill>
                  <a:srgbClr val="EA580C"/>
                </a:solidFill>
                <a:latin typeface="Calibri"/>
              </a:defRPr>
            </a:pPr>
            <a:r>
              <a:t>5–10%</a:t>
            </a:r>
          </a:p>
        </p:txBody>
      </p:sp>
      <p:sp>
        <p:nvSpPr>
          <p:cNvPr id="10" name="TextBox 9"/>
          <p:cNvSpPr txBox="1"/>
          <p:nvPr/>
        </p:nvSpPr>
        <p:spPr>
          <a:xfrm>
            <a:off x="3566160" y="292608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Adverse Reactions</a:t>
            </a:r>
            <a:br/>
            <a:r>
              <a:t>Actually Reported</a:t>
            </a:r>
          </a:p>
        </p:txBody>
      </p:sp>
      <p:sp>
        <p:nvSpPr>
          <p:cNvPr id="11" name="Rounded Rectangle 10"/>
          <p:cNvSpPr/>
          <p:nvPr/>
        </p:nvSpPr>
        <p:spPr>
          <a:xfrm>
            <a:off x="6035040" y="182880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1920240" cy="822960"/>
          </a:xfrm>
          <a:prstGeom prst="rect">
            <a:avLst/>
          </a:prstGeom>
          <a:noFill/>
        </p:spPr>
        <p:txBody>
          <a:bodyPr wrap="square">
            <a:spAutoFit/>
          </a:bodyPr>
          <a:lstStyle/>
          <a:p>
            <a:pPr algn="ctr">
              <a:lnSpc>
                <a:spcPts val="4320"/>
              </a:lnSpc>
              <a:spcAft>
                <a:spcPts val="0"/>
              </a:spcAft>
              <a:defRPr sz="3600" b="1">
                <a:solidFill>
                  <a:srgbClr val="CA8A04"/>
                </a:solidFill>
                <a:latin typeface="Calibri"/>
              </a:defRPr>
            </a:pPr>
            <a:r>
              <a:t>15 days</a:t>
            </a:r>
          </a:p>
        </p:txBody>
      </p:sp>
      <p:sp>
        <p:nvSpPr>
          <p:cNvPr id="13" name="TextBox 12"/>
          <p:cNvSpPr txBox="1"/>
          <p:nvPr/>
        </p:nvSpPr>
        <p:spPr>
          <a:xfrm>
            <a:off x="6217920" y="292608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FDA Reporting</a:t>
            </a:r>
            <a:br/>
            <a:r>
              <a:t>Window</a:t>
            </a:r>
          </a:p>
        </p:txBody>
      </p:sp>
      <p:sp>
        <p:nvSpPr>
          <p:cNvPr id="14" name="Rounded Rectangle 13"/>
          <p:cNvSpPr/>
          <p:nvPr/>
        </p:nvSpPr>
        <p:spPr>
          <a:xfrm>
            <a:off x="8686800" y="182880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2103120"/>
            <a:ext cx="1920240" cy="822960"/>
          </a:xfrm>
          <a:prstGeom prst="rect">
            <a:avLst/>
          </a:prstGeom>
          <a:noFill/>
        </p:spPr>
        <p:txBody>
          <a:bodyPr wrap="square">
            <a:spAutoFit/>
          </a:bodyPr>
          <a:lstStyle/>
          <a:p>
            <a:pPr algn="ctr">
              <a:lnSpc>
                <a:spcPts val="4320"/>
              </a:lnSpc>
              <a:spcAft>
                <a:spcPts val="0"/>
              </a:spcAft>
              <a:defRPr sz="3600" b="1">
                <a:solidFill>
                  <a:srgbClr val="DC2626"/>
                </a:solidFill>
                <a:latin typeface="Calibri"/>
              </a:defRPr>
            </a:pPr>
            <a:r>
              <a:t>$100M+</a:t>
            </a:r>
          </a:p>
        </p:txBody>
      </p:sp>
      <p:sp>
        <p:nvSpPr>
          <p:cNvPr id="16" name="TextBox 15"/>
          <p:cNvSpPr txBox="1"/>
          <p:nvPr/>
        </p:nvSpPr>
        <p:spPr>
          <a:xfrm>
            <a:off x="8869680" y="292608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Potential Fines for</a:t>
            </a:r>
            <a:br/>
            <a:r>
              <a:t>Non-Compliance</a:t>
            </a:r>
          </a:p>
        </p:txBody>
      </p:sp>
      <p:sp>
        <p:nvSpPr>
          <p:cNvPr id="17" name="TextBox 16"/>
          <p:cNvSpPr txBox="1"/>
          <p:nvPr/>
        </p:nvSpPr>
        <p:spPr>
          <a:xfrm>
            <a:off x="731520" y="4206240"/>
            <a:ext cx="10515600" cy="731520"/>
          </a:xfrm>
          <a:prstGeom prst="rect">
            <a:avLst/>
          </a:prstGeom>
          <a:noFill/>
        </p:spPr>
        <p:txBody>
          <a:bodyPr wrap="square">
            <a:spAutoFit/>
          </a:bodyPr>
          <a:lstStyle/>
          <a:p>
            <a:pPr algn="ctr">
              <a:lnSpc>
                <a:spcPts val="1920"/>
              </a:lnSpc>
              <a:spcAft>
                <a:spcPts val="0"/>
              </a:spcAft>
              <a:defRPr sz="1600" b="0">
                <a:solidFill>
                  <a:srgbClr val="6B7280"/>
                </a:solidFill>
                <a:latin typeface="Calibri"/>
              </a:defRPr>
            </a:pPr>
            <a:r>
              <a:t>Every unreviewed conversation is a potential unreported adverse event, an undetected SOP deviation, or an audit gap waiting to surface.</a:t>
            </a:r>
          </a:p>
        </p:txBody>
      </p:sp>
      <p:sp>
        <p:nvSpPr>
          <p:cNvPr id="18" name="Rounded Rectangle 17"/>
          <p:cNvSpPr/>
          <p:nvPr/>
        </p:nvSpPr>
        <p:spPr>
          <a:xfrm>
            <a:off x="1828800" y="5120640"/>
            <a:ext cx="365760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0">
                <a:solidFill>
                  <a:srgbClr val="0F172A"/>
                </a:solidFill>
                <a:latin typeface="Calibri"/>
              </a:defRPr>
            </a:pPr>
            <a:r>
              <a:t>Manual QA: 1 reviewer per</a:t>
            </a:r>
            <a:br/>
            <a:r>
              <a:t>500-1,000 calls</a:t>
            </a:r>
          </a:p>
        </p:txBody>
      </p:sp>
      <p:sp>
        <p:nvSpPr>
          <p:cNvPr id="19" name="Right Arrow 18"/>
          <p:cNvSpPr/>
          <p:nvPr/>
        </p:nvSpPr>
        <p:spPr>
          <a:xfrm>
            <a:off x="5669280" y="5349240"/>
            <a:ext cx="731520" cy="36576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0" y="5120640"/>
            <a:ext cx="365760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0">
                <a:solidFill>
                  <a:srgbClr val="FFFFFF"/>
                </a:solidFill>
                <a:latin typeface="Calibri"/>
              </a:defRPr>
            </a:pPr>
            <a:r>
              <a:t>Structural bottleneck:</a:t>
            </a:r>
            <a:br/>
            <a:r>
              <a:t>95-99% of conversations unreviewed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01</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How Adverse Events Get Missed</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The failure chain from patient mention to audit discovery</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200400"/>
            <a:ext cx="1828800" cy="12801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Patient mentions</a:t>
            </a:r>
            <a:br/>
            <a:r>
              <a:t>symptom on call</a:t>
            </a:r>
          </a:p>
        </p:txBody>
      </p:sp>
      <p:sp>
        <p:nvSpPr>
          <p:cNvPr id="7" name="Oval 6"/>
          <p:cNvSpPr/>
          <p:nvPr/>
        </p:nvSpPr>
        <p:spPr>
          <a:xfrm>
            <a:off x="1463040" y="2697480"/>
            <a:ext cx="365760" cy="3657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1</a:t>
            </a:r>
          </a:p>
        </p:txBody>
      </p:sp>
      <p:sp>
        <p:nvSpPr>
          <p:cNvPr id="8" name="Right Arrow 7"/>
          <p:cNvSpPr/>
          <p:nvPr/>
        </p:nvSpPr>
        <p:spPr>
          <a:xfrm>
            <a:off x="2606040" y="3703320"/>
            <a:ext cx="36576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17520" y="3200400"/>
            <a:ext cx="1828800" cy="12801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Agent misses</a:t>
            </a:r>
            <a:br/>
            <a:r>
              <a:t>or logs poorly</a:t>
            </a:r>
          </a:p>
        </p:txBody>
      </p:sp>
      <p:sp>
        <p:nvSpPr>
          <p:cNvPr id="10" name="Oval 9"/>
          <p:cNvSpPr/>
          <p:nvPr/>
        </p:nvSpPr>
        <p:spPr>
          <a:xfrm>
            <a:off x="3749040" y="2697480"/>
            <a:ext cx="365760" cy="36576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2</a:t>
            </a:r>
          </a:p>
        </p:txBody>
      </p:sp>
      <p:sp>
        <p:nvSpPr>
          <p:cNvPr id="11" name="Right Arrow 10"/>
          <p:cNvSpPr/>
          <p:nvPr/>
        </p:nvSpPr>
        <p:spPr>
          <a:xfrm>
            <a:off x="4892040" y="3703320"/>
            <a:ext cx="36576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03520" y="3200400"/>
            <a:ext cx="1828800" cy="128016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Enters QA</a:t>
            </a:r>
            <a:br/>
            <a:r>
              <a:t>backlog</a:t>
            </a:r>
          </a:p>
        </p:txBody>
      </p:sp>
      <p:sp>
        <p:nvSpPr>
          <p:cNvPr id="13" name="Oval 12"/>
          <p:cNvSpPr/>
          <p:nvPr/>
        </p:nvSpPr>
        <p:spPr>
          <a:xfrm>
            <a:off x="6035040" y="2697480"/>
            <a:ext cx="365760" cy="36576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3</a:t>
            </a:r>
          </a:p>
        </p:txBody>
      </p:sp>
      <p:sp>
        <p:nvSpPr>
          <p:cNvPr id="14" name="Right Arrow 13"/>
          <p:cNvSpPr/>
          <p:nvPr/>
        </p:nvSpPr>
        <p:spPr>
          <a:xfrm>
            <a:off x="7178040" y="3703320"/>
            <a:ext cx="36576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89520" y="3200400"/>
            <a:ext cx="1828800" cy="12801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AE goes</a:t>
            </a:r>
            <a:br/>
            <a:r>
              <a:t>unreported</a:t>
            </a:r>
          </a:p>
        </p:txBody>
      </p:sp>
      <p:sp>
        <p:nvSpPr>
          <p:cNvPr id="16" name="Oval 15"/>
          <p:cNvSpPr/>
          <p:nvPr/>
        </p:nvSpPr>
        <p:spPr>
          <a:xfrm>
            <a:off x="8321040" y="2697480"/>
            <a:ext cx="365760" cy="3657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4</a:t>
            </a:r>
          </a:p>
        </p:txBody>
      </p:sp>
      <p:sp>
        <p:nvSpPr>
          <p:cNvPr id="17" name="Right Arrow 16"/>
          <p:cNvSpPr/>
          <p:nvPr/>
        </p:nvSpPr>
        <p:spPr>
          <a:xfrm>
            <a:off x="9464040" y="3703320"/>
            <a:ext cx="36576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75520" y="3200400"/>
            <a:ext cx="1828800" cy="12801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Found months</a:t>
            </a:r>
            <a:br/>
            <a:r>
              <a:t>later in audit</a:t>
            </a:r>
          </a:p>
        </p:txBody>
      </p:sp>
      <p:sp>
        <p:nvSpPr>
          <p:cNvPr id="19" name="Oval 18"/>
          <p:cNvSpPr/>
          <p:nvPr/>
        </p:nvSpPr>
        <p:spPr>
          <a:xfrm>
            <a:off x="10607040" y="2697480"/>
            <a:ext cx="365760" cy="3657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5</a:t>
            </a:r>
          </a:p>
        </p:txBody>
      </p:sp>
      <p:sp>
        <p:nvSpPr>
          <p:cNvPr id="20" name="Rounded Rectangle 19"/>
          <p:cNvSpPr/>
          <p:nvPr/>
        </p:nvSpPr>
        <p:spPr>
          <a:xfrm>
            <a:off x="1371600" y="5029200"/>
            <a:ext cx="9418320" cy="10972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0">
                <a:solidFill>
                  <a:srgbClr val="0F172A"/>
                </a:solidFill>
                <a:latin typeface="Calibri"/>
              </a:defRPr>
            </a:pPr>
            <a:r>
              <a:t>AI Governance Gap: AI agents handle growing share of patient interactions with no centralized monitoring, no audit trail, and no compliance feedback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01</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Market Opportunity</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The pharmacovigilance market is large, growing, and underserved</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1920240" cy="822960"/>
          </a:xfrm>
          <a:prstGeom prst="rect">
            <a:avLst/>
          </a:prstGeom>
          <a:noFill/>
        </p:spPr>
        <p:txBody>
          <a:bodyPr wrap="square">
            <a:spAutoFit/>
          </a:bodyPr>
          <a:lstStyle/>
          <a:p>
            <a:pPr algn="ctr">
              <a:lnSpc>
                <a:spcPts val="4320"/>
              </a:lnSpc>
              <a:spcAft>
                <a:spcPts val="0"/>
              </a:spcAft>
              <a:defRPr sz="3600" b="1">
                <a:solidFill>
                  <a:srgbClr val="0D9488"/>
                </a:solidFill>
                <a:latin typeface="Calibri"/>
              </a:defRPr>
            </a:pPr>
            <a:r>
              <a:t>$10.4B</a:t>
            </a:r>
          </a:p>
        </p:txBody>
      </p:sp>
      <p:sp>
        <p:nvSpPr>
          <p:cNvPr id="8" name="TextBox 7"/>
          <p:cNvSpPr txBox="1"/>
          <p:nvPr/>
        </p:nvSpPr>
        <p:spPr>
          <a:xfrm>
            <a:off x="1097280" y="31089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PV Market 2025</a:t>
            </a:r>
          </a:p>
        </p:txBody>
      </p:sp>
      <p:sp>
        <p:nvSpPr>
          <p:cNvPr id="9" name="Rounded Rectangle 8"/>
          <p:cNvSpPr/>
          <p:nvPr/>
        </p:nvSpPr>
        <p:spPr>
          <a:xfrm>
            <a:off x="3657600" y="20116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286000"/>
            <a:ext cx="1920240" cy="822960"/>
          </a:xfrm>
          <a:prstGeom prst="rect">
            <a:avLst/>
          </a:prstGeom>
          <a:noFill/>
        </p:spPr>
        <p:txBody>
          <a:bodyPr wrap="square">
            <a:spAutoFit/>
          </a:bodyPr>
          <a:lstStyle/>
          <a:p>
            <a:pPr algn="ctr">
              <a:lnSpc>
                <a:spcPts val="4320"/>
              </a:lnSpc>
              <a:spcAft>
                <a:spcPts val="0"/>
              </a:spcAft>
              <a:defRPr sz="3600" b="1">
                <a:solidFill>
                  <a:srgbClr val="0EA5E9"/>
                </a:solidFill>
                <a:latin typeface="Calibri"/>
              </a:defRPr>
            </a:pPr>
            <a:r>
              <a:t>$22.3B</a:t>
            </a:r>
          </a:p>
        </p:txBody>
      </p:sp>
      <p:sp>
        <p:nvSpPr>
          <p:cNvPr id="11" name="TextBox 10"/>
          <p:cNvSpPr txBox="1"/>
          <p:nvPr/>
        </p:nvSpPr>
        <p:spPr>
          <a:xfrm>
            <a:off x="3840480" y="31089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Projected 2034</a:t>
            </a:r>
          </a:p>
        </p:txBody>
      </p:sp>
      <p:sp>
        <p:nvSpPr>
          <p:cNvPr id="12" name="Rounded Rectangle 11"/>
          <p:cNvSpPr/>
          <p:nvPr/>
        </p:nvSpPr>
        <p:spPr>
          <a:xfrm>
            <a:off x="6400800" y="20116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286000"/>
            <a:ext cx="1920240" cy="822960"/>
          </a:xfrm>
          <a:prstGeom prst="rect">
            <a:avLst/>
          </a:prstGeom>
          <a:noFill/>
        </p:spPr>
        <p:txBody>
          <a:bodyPr wrap="square">
            <a:spAutoFit/>
          </a:bodyPr>
          <a:lstStyle/>
          <a:p>
            <a:pPr algn="ctr">
              <a:lnSpc>
                <a:spcPts val="4320"/>
              </a:lnSpc>
              <a:spcAft>
                <a:spcPts val="0"/>
              </a:spcAft>
              <a:defRPr sz="3600" b="1">
                <a:solidFill>
                  <a:srgbClr val="16A34A"/>
                </a:solidFill>
                <a:latin typeface="Calibri"/>
              </a:defRPr>
            </a:pPr>
            <a:r>
              <a:t>8.9%</a:t>
            </a:r>
          </a:p>
        </p:txBody>
      </p:sp>
      <p:sp>
        <p:nvSpPr>
          <p:cNvPr id="14" name="TextBox 13"/>
          <p:cNvSpPr txBox="1"/>
          <p:nvPr/>
        </p:nvSpPr>
        <p:spPr>
          <a:xfrm>
            <a:off x="6583680" y="31089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CAGR Growth</a:t>
            </a:r>
          </a:p>
        </p:txBody>
      </p:sp>
      <p:sp>
        <p:nvSpPr>
          <p:cNvPr id="15" name="Rounded Rectangle 14"/>
          <p:cNvSpPr/>
          <p:nvPr/>
        </p:nvSpPr>
        <p:spPr>
          <a:xfrm>
            <a:off x="9144000" y="20116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286000"/>
            <a:ext cx="1920240" cy="822960"/>
          </a:xfrm>
          <a:prstGeom prst="rect">
            <a:avLst/>
          </a:prstGeom>
          <a:noFill/>
        </p:spPr>
        <p:txBody>
          <a:bodyPr wrap="square">
            <a:spAutoFit/>
          </a:bodyPr>
          <a:lstStyle/>
          <a:p>
            <a:pPr algn="ctr">
              <a:lnSpc>
                <a:spcPts val="4320"/>
              </a:lnSpc>
              <a:spcAft>
                <a:spcPts val="0"/>
              </a:spcAft>
              <a:defRPr sz="3600" b="1">
                <a:solidFill>
                  <a:srgbClr val="0D9488"/>
                </a:solidFill>
                <a:latin typeface="Calibri"/>
              </a:defRPr>
            </a:pPr>
            <a:r>
              <a:t>50%</a:t>
            </a:r>
          </a:p>
        </p:txBody>
      </p:sp>
      <p:sp>
        <p:nvSpPr>
          <p:cNvPr id="17" name="TextBox 16"/>
          <p:cNvSpPr txBox="1"/>
          <p:nvPr/>
        </p:nvSpPr>
        <p:spPr>
          <a:xfrm>
            <a:off x="9326880" y="31089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Faster Ops with</a:t>
            </a:r>
            <a:br/>
            <a:r>
              <a:t>AI (EVERSANA)</a:t>
            </a:r>
          </a:p>
        </p:txBody>
      </p:sp>
      <p:sp>
        <p:nvSpPr>
          <p:cNvPr id="18" name="TextBox 17"/>
          <p:cNvSpPr txBox="1"/>
          <p:nvPr/>
        </p:nvSpPr>
        <p:spPr>
          <a:xfrm>
            <a:off x="914400" y="4572000"/>
            <a:ext cx="10332720" cy="457200"/>
          </a:xfrm>
          <a:prstGeom prst="rect">
            <a:avLst/>
          </a:prstGeom>
          <a:noFill/>
        </p:spPr>
        <p:txBody>
          <a:bodyPr wrap="square">
            <a:spAutoFit/>
          </a:bodyPr>
          <a:lstStyle/>
          <a:p>
            <a:pPr algn="ctr">
              <a:lnSpc>
                <a:spcPts val="2400"/>
              </a:lnSpc>
              <a:spcAft>
                <a:spcPts val="0"/>
              </a:spcAft>
              <a:defRPr sz="2000" b="1">
                <a:solidFill>
                  <a:srgbClr val="0F172A"/>
                </a:solidFill>
                <a:latin typeface="Calibri"/>
              </a:defRPr>
            </a:pPr>
            <a:r>
              <a:t>No healthcare-native, AI-powered compliance intelligence platform exists today.</a:t>
            </a:r>
          </a:p>
        </p:txBody>
      </p:sp>
      <p:sp>
        <p:nvSpPr>
          <p:cNvPr id="19" name="Rounded Rectangle 18"/>
          <p:cNvSpPr/>
          <p:nvPr/>
        </p:nvSpPr>
        <p:spPr>
          <a:xfrm>
            <a:off x="1371600" y="5303520"/>
            <a:ext cx="2926080" cy="4114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Build Internally</a:t>
            </a:r>
          </a:p>
        </p:txBody>
      </p:sp>
      <p:sp>
        <p:nvSpPr>
          <p:cNvPr id="20" name="TextBox 19"/>
          <p:cNvSpPr txBox="1"/>
          <p:nvPr/>
        </p:nvSpPr>
        <p:spPr>
          <a:xfrm>
            <a:off x="1463040" y="5760720"/>
            <a:ext cx="2743200" cy="274320"/>
          </a:xfrm>
          <a:prstGeom prst="rect">
            <a:avLst/>
          </a:prstGeom>
          <a:noFill/>
        </p:spPr>
        <p:txBody>
          <a:bodyPr wrap="square">
            <a:spAutoFit/>
          </a:bodyPr>
          <a:lstStyle/>
          <a:p>
            <a:pPr algn="ctr">
              <a:lnSpc>
                <a:spcPts val="1560"/>
              </a:lnSpc>
              <a:spcAft>
                <a:spcPts val="0"/>
              </a:spcAft>
              <a:defRPr sz="1300" b="1">
                <a:solidFill>
                  <a:srgbClr val="0F172A"/>
                </a:solidFill>
                <a:latin typeface="Calibri"/>
              </a:defRPr>
            </a:pPr>
            <a:r>
              <a:t>12-18 months</a:t>
            </a:r>
          </a:p>
        </p:txBody>
      </p:sp>
      <p:sp>
        <p:nvSpPr>
          <p:cNvPr id="21" name="TextBox 20"/>
          <p:cNvSpPr txBox="1"/>
          <p:nvPr/>
        </p:nvSpPr>
        <p:spPr>
          <a:xfrm>
            <a:off x="1463040" y="6035040"/>
            <a:ext cx="2743200" cy="45720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Diverts engineering,</a:t>
            </a:r>
            <a:br/>
            <a:r>
              <a:t>no shared learnings</a:t>
            </a:r>
          </a:p>
        </p:txBody>
      </p:sp>
      <p:sp>
        <p:nvSpPr>
          <p:cNvPr id="22" name="Rounded Rectangle 21"/>
          <p:cNvSpPr/>
          <p:nvPr/>
        </p:nvSpPr>
        <p:spPr>
          <a:xfrm>
            <a:off x="4846320" y="5303520"/>
            <a:ext cx="2926080" cy="4114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Buy Generic</a:t>
            </a:r>
          </a:p>
        </p:txBody>
      </p:sp>
      <p:sp>
        <p:nvSpPr>
          <p:cNvPr id="23" name="TextBox 22"/>
          <p:cNvSpPr txBox="1"/>
          <p:nvPr/>
        </p:nvSpPr>
        <p:spPr>
          <a:xfrm>
            <a:off x="4937760" y="5760720"/>
            <a:ext cx="2743200" cy="274320"/>
          </a:xfrm>
          <a:prstGeom prst="rect">
            <a:avLst/>
          </a:prstGeom>
          <a:noFill/>
        </p:spPr>
        <p:txBody>
          <a:bodyPr wrap="square">
            <a:spAutoFit/>
          </a:bodyPr>
          <a:lstStyle/>
          <a:p>
            <a:pPr algn="ctr">
              <a:lnSpc>
                <a:spcPts val="1560"/>
              </a:lnSpc>
              <a:spcAft>
                <a:spcPts val="0"/>
              </a:spcAft>
              <a:defRPr sz="1300" b="1">
                <a:solidFill>
                  <a:srgbClr val="0F172A"/>
                </a:solidFill>
                <a:latin typeface="Calibri"/>
              </a:defRPr>
            </a:pPr>
            <a:r>
              <a:t>Weeks</a:t>
            </a:r>
          </a:p>
        </p:txBody>
      </p:sp>
      <p:sp>
        <p:nvSpPr>
          <p:cNvPr id="24" name="TextBox 23"/>
          <p:cNvSpPr txBox="1"/>
          <p:nvPr/>
        </p:nvSpPr>
        <p:spPr>
          <a:xfrm>
            <a:off x="4937760" y="6035040"/>
            <a:ext cx="2743200" cy="45720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Not healthcare-native,</a:t>
            </a:r>
            <a:br/>
            <a:r>
              <a:t>no PV taxonomy</a:t>
            </a:r>
          </a:p>
        </p:txBody>
      </p:sp>
      <p:sp>
        <p:nvSpPr>
          <p:cNvPr id="25" name="Rounded Rectangle 24"/>
          <p:cNvSpPr/>
          <p:nvPr/>
        </p:nvSpPr>
        <p:spPr>
          <a:xfrm>
            <a:off x="8321040" y="5303520"/>
            <a:ext cx="2926080" cy="4114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Extend with Infinitus</a:t>
            </a:r>
          </a:p>
        </p:txBody>
      </p:sp>
      <p:sp>
        <p:nvSpPr>
          <p:cNvPr id="26" name="TextBox 25"/>
          <p:cNvSpPr txBox="1"/>
          <p:nvPr/>
        </p:nvSpPr>
        <p:spPr>
          <a:xfrm>
            <a:off x="8412480" y="5760720"/>
            <a:ext cx="2743200" cy="274320"/>
          </a:xfrm>
          <a:prstGeom prst="rect">
            <a:avLst/>
          </a:prstGeom>
          <a:noFill/>
        </p:spPr>
        <p:txBody>
          <a:bodyPr wrap="square">
            <a:spAutoFit/>
          </a:bodyPr>
          <a:lstStyle/>
          <a:p>
            <a:pPr algn="ctr">
              <a:lnSpc>
                <a:spcPts val="1560"/>
              </a:lnSpc>
              <a:spcAft>
                <a:spcPts val="0"/>
              </a:spcAft>
              <a:defRPr sz="1300" b="1">
                <a:solidFill>
                  <a:srgbClr val="0F172A"/>
                </a:solidFill>
                <a:latin typeface="Calibri"/>
              </a:defRPr>
            </a:pPr>
            <a:r>
              <a:t>90-day pilot</a:t>
            </a:r>
          </a:p>
        </p:txBody>
      </p:sp>
      <p:sp>
        <p:nvSpPr>
          <p:cNvPr id="27" name="TextBox 26"/>
          <p:cNvSpPr txBox="1"/>
          <p:nvPr/>
        </p:nvSpPr>
        <p:spPr>
          <a:xfrm>
            <a:off x="8412480" y="6035040"/>
            <a:ext cx="2743200" cy="45720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Leverages existing moat</a:t>
            </a:r>
            <a:br/>
            <a:r>
              <a:t>from Day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02</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From 5% to 100%: The Product Vision</a:t>
            </a:r>
          </a:p>
        </p:txBody>
      </p:sp>
      <p:sp>
        <p:nvSpPr>
          <p:cNvPr id="4" name="Rectangle 3"/>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1737360"/>
          <a:ext cx="10332720" cy="2743200"/>
        </p:xfrm>
        <a:graphic>
          <a:graphicData uri="http://schemas.openxmlformats.org/drawingml/2006/table">
            <a:tbl>
              <a:tblPr firstRow="1" bandRow="1">
                <a:tableStyleId>{5C22544A-7EE6-4342-B048-85BDC9FD1C3A}</a:tableStyleId>
              </a:tblPr>
              <a:tblGrid>
                <a:gridCol w="2743200"/>
                <a:gridCol w="3657600"/>
                <a:gridCol w="3931920"/>
              </a:tblGrid>
              <a:tr h="457200">
                <a:tc>
                  <a:txBody>
                    <a:bodyPr/>
                    <a:lstStyle/>
                    <a:p>
                      <a:pPr algn="ctr">
                        <a:defRPr sz="1200" b="1">
                          <a:solidFill>
                            <a:srgbClr val="FFFFFF"/>
                          </a:solidFill>
                          <a:latin typeface="Calibri"/>
                        </a:defRPr>
                      </a:pPr>
                    </a:p>
                  </a:txBody>
                  <a:tcPr>
                    <a:solidFill>
                      <a:srgbClr val="0D9488"/>
                    </a:solidFill>
                  </a:tcPr>
                </a:tc>
                <a:tc>
                  <a:txBody>
                    <a:bodyPr/>
                    <a:lstStyle/>
                    <a:p>
                      <a:pPr algn="ctr">
                        <a:defRPr sz="1200" b="1">
                          <a:solidFill>
                            <a:srgbClr val="FFFFFF"/>
                          </a:solidFill>
                          <a:latin typeface="Calibri"/>
                        </a:defRPr>
                      </a:pPr>
                      <a:r>
                        <a:t>Today</a:t>
                      </a:r>
                    </a:p>
                  </a:txBody>
                  <a:tcPr>
                    <a:solidFill>
                      <a:srgbClr val="0D9488"/>
                    </a:solidFill>
                  </a:tcPr>
                </a:tc>
                <a:tc>
                  <a:txBody>
                    <a:bodyPr/>
                    <a:lstStyle/>
                    <a:p>
                      <a:pPr algn="ctr">
                        <a:defRPr sz="1200" b="1">
                          <a:solidFill>
                            <a:srgbClr val="FFFFFF"/>
                          </a:solidFill>
                          <a:latin typeface="Calibri"/>
                        </a:defRPr>
                      </a:pPr>
                      <a:r>
                        <a:t>With PharCovAI</a:t>
                      </a:r>
                    </a:p>
                  </a:txBody>
                  <a:tcPr>
                    <a:solidFill>
                      <a:srgbClr val="0D9488"/>
                    </a:solidFill>
                  </a:tcPr>
                </a:tc>
              </a:tr>
              <a:tr h="457200">
                <a:tc>
                  <a:txBody>
                    <a:bodyPr/>
                    <a:lstStyle/>
                    <a:p>
                      <a:pPr algn="l">
                        <a:defRPr sz="1100">
                          <a:solidFill>
                            <a:srgbClr val="0F172A"/>
                          </a:solidFill>
                          <a:latin typeface="Calibri"/>
                        </a:defRPr>
                      </a:pPr>
                      <a:r>
                        <a:t>Conversations reviewed</a:t>
                      </a:r>
                    </a:p>
                  </a:txBody>
                  <a:tcPr>
                    <a:solidFill>
                      <a:srgbClr val="FFFFFF"/>
                    </a:solidFill>
                  </a:tcPr>
                </a:tc>
                <a:tc>
                  <a:txBody>
                    <a:bodyPr/>
                    <a:lstStyle/>
                    <a:p>
                      <a:pPr algn="l">
                        <a:defRPr sz="1100">
                          <a:solidFill>
                            <a:srgbClr val="0F172A"/>
                          </a:solidFill>
                          <a:latin typeface="Calibri"/>
                        </a:defRPr>
                      </a:pPr>
                      <a:r>
                        <a:t>1-5% (manual QA)</a:t>
                      </a:r>
                    </a:p>
                  </a:txBody>
                  <a:tcPr>
                    <a:solidFill>
                      <a:srgbClr val="FFFFFF"/>
                    </a:solidFill>
                  </a:tcPr>
                </a:tc>
                <a:tc>
                  <a:txBody>
                    <a:bodyPr/>
                    <a:lstStyle/>
                    <a:p>
                      <a:pPr algn="l">
                        <a:defRPr sz="1100">
                          <a:solidFill>
                            <a:srgbClr val="0F172A"/>
                          </a:solidFill>
                          <a:latin typeface="Calibri"/>
                        </a:defRPr>
                      </a:pPr>
                      <a:r>
                        <a:t>100% (AI + human oversight)</a:t>
                      </a:r>
                    </a:p>
                  </a:txBody>
                  <a:tcPr>
                    <a:solidFill>
                      <a:srgbClr val="FFFFFF"/>
                    </a:solidFill>
                  </a:tcPr>
                </a:tc>
              </a:tr>
              <a:tr h="457200">
                <a:tc>
                  <a:txBody>
                    <a:bodyPr/>
                    <a:lstStyle/>
                    <a:p>
                      <a:pPr algn="l">
                        <a:defRPr sz="1100">
                          <a:solidFill>
                            <a:srgbClr val="0F172A"/>
                          </a:solidFill>
                          <a:latin typeface="Calibri"/>
                        </a:defRPr>
                      </a:pPr>
                      <a:r>
                        <a:t>AE detection</a:t>
                      </a:r>
                    </a:p>
                  </a:txBody>
                  <a:tcPr>
                    <a:solidFill>
                      <a:srgbClr val="F8F9FA"/>
                    </a:solidFill>
                  </a:tcPr>
                </a:tc>
                <a:tc>
                  <a:txBody>
                    <a:bodyPr/>
                    <a:lstStyle/>
                    <a:p>
                      <a:pPr algn="l">
                        <a:defRPr sz="1100">
                          <a:solidFill>
                            <a:srgbClr val="0F172A"/>
                          </a:solidFill>
                          <a:latin typeface="Calibri"/>
                        </a:defRPr>
                      </a:pPr>
                      <a:r>
                        <a:t>Agent self-reporting</a:t>
                      </a:r>
                    </a:p>
                  </a:txBody>
                  <a:tcPr>
                    <a:solidFill>
                      <a:srgbClr val="F8F9FA"/>
                    </a:solidFill>
                  </a:tcPr>
                </a:tc>
                <a:tc>
                  <a:txBody>
                    <a:bodyPr/>
                    <a:lstStyle/>
                    <a:p>
                      <a:pPr algn="l">
                        <a:defRPr sz="1100">
                          <a:solidFill>
                            <a:srgbClr val="0F172A"/>
                          </a:solidFill>
                          <a:latin typeface="Calibri"/>
                        </a:defRPr>
                      </a:pPr>
                      <a:r>
                        <a:t>High-recall AI with evidence</a:t>
                      </a:r>
                    </a:p>
                  </a:txBody>
                  <a:tcPr>
                    <a:solidFill>
                      <a:srgbClr val="F8F9FA"/>
                    </a:solidFill>
                  </a:tcPr>
                </a:tc>
              </a:tr>
              <a:tr h="457200">
                <a:tc>
                  <a:txBody>
                    <a:bodyPr/>
                    <a:lstStyle/>
                    <a:p>
                      <a:pPr algn="l">
                        <a:defRPr sz="1100">
                          <a:solidFill>
                            <a:srgbClr val="0F172A"/>
                          </a:solidFill>
                          <a:latin typeface="Calibri"/>
                        </a:defRPr>
                      </a:pPr>
                      <a:r>
                        <a:t>Time to flag</a:t>
                      </a:r>
                    </a:p>
                  </a:txBody>
                  <a:tcPr>
                    <a:solidFill>
                      <a:srgbClr val="FFFFFF"/>
                    </a:solidFill>
                  </a:tcPr>
                </a:tc>
                <a:tc>
                  <a:txBody>
                    <a:bodyPr/>
                    <a:lstStyle/>
                    <a:p>
                      <a:pPr algn="l">
                        <a:defRPr sz="1100">
                          <a:solidFill>
                            <a:srgbClr val="0F172A"/>
                          </a:solidFill>
                          <a:latin typeface="Calibri"/>
                        </a:defRPr>
                      </a:pPr>
                      <a:r>
                        <a:t>Days to weeks</a:t>
                      </a:r>
                    </a:p>
                  </a:txBody>
                  <a:tcPr>
                    <a:solidFill>
                      <a:srgbClr val="FFFFFF"/>
                    </a:solidFill>
                  </a:tcPr>
                </a:tc>
                <a:tc>
                  <a:txBody>
                    <a:bodyPr/>
                    <a:lstStyle/>
                    <a:p>
                      <a:pPr algn="l">
                        <a:defRPr sz="1100">
                          <a:solidFill>
                            <a:srgbClr val="0F172A"/>
                          </a:solidFill>
                          <a:latin typeface="Calibri"/>
                        </a:defRPr>
                      </a:pPr>
                      <a:r>
                        <a:t>Minutes (P95 &lt; 30 min)</a:t>
                      </a:r>
                    </a:p>
                  </a:txBody>
                  <a:tcPr>
                    <a:solidFill>
                      <a:srgbClr val="FFFFFF"/>
                    </a:solidFill>
                  </a:tcPr>
                </a:tc>
              </a:tr>
              <a:tr h="457200">
                <a:tc>
                  <a:txBody>
                    <a:bodyPr/>
                    <a:lstStyle/>
                    <a:p>
                      <a:pPr algn="l">
                        <a:defRPr sz="1100">
                          <a:solidFill>
                            <a:srgbClr val="0F172A"/>
                          </a:solidFill>
                          <a:latin typeface="Calibri"/>
                        </a:defRPr>
                      </a:pPr>
                      <a:r>
                        <a:t>Audit readiness</a:t>
                      </a:r>
                    </a:p>
                  </a:txBody>
                  <a:tcPr>
                    <a:solidFill>
                      <a:srgbClr val="F8F9FA"/>
                    </a:solidFill>
                  </a:tcPr>
                </a:tc>
                <a:tc>
                  <a:txBody>
                    <a:bodyPr/>
                    <a:lstStyle/>
                    <a:p>
                      <a:pPr algn="l">
                        <a:defRPr sz="1100">
                          <a:solidFill>
                            <a:srgbClr val="0F172A"/>
                          </a:solidFill>
                          <a:latin typeface="Calibri"/>
                        </a:defRPr>
                      </a:pPr>
                      <a:r>
                        <a:t>Weeks of reconciliation</a:t>
                      </a:r>
                    </a:p>
                  </a:txBody>
                  <a:tcPr>
                    <a:solidFill>
                      <a:srgbClr val="F8F9FA"/>
                    </a:solidFill>
                  </a:tcPr>
                </a:tc>
                <a:tc>
                  <a:txBody>
                    <a:bodyPr/>
                    <a:lstStyle/>
                    <a:p>
                      <a:pPr algn="l">
                        <a:defRPr sz="1100">
                          <a:solidFill>
                            <a:srgbClr val="0F172A"/>
                          </a:solidFill>
                          <a:latin typeface="Calibri"/>
                        </a:defRPr>
                      </a:pPr>
                      <a:r>
                        <a:t>Continuous, export-ready</a:t>
                      </a:r>
                    </a:p>
                  </a:txBody>
                  <a:tcPr>
                    <a:solidFill>
                      <a:srgbClr val="F8F9FA"/>
                    </a:solidFill>
                  </a:tcPr>
                </a:tc>
              </a:tr>
              <a:tr h="457200">
                <a:tc>
                  <a:txBody>
                    <a:bodyPr/>
                    <a:lstStyle/>
                    <a:p>
                      <a:pPr algn="l">
                        <a:defRPr sz="1100">
                          <a:solidFill>
                            <a:srgbClr val="0F172A"/>
                          </a:solidFill>
                          <a:latin typeface="Calibri"/>
                        </a:defRPr>
                      </a:pPr>
                      <a:r>
                        <a:t>AI agent oversight</a:t>
                      </a:r>
                    </a:p>
                  </a:txBody>
                  <a:tcPr>
                    <a:solidFill>
                      <a:srgbClr val="FFFFFF"/>
                    </a:solidFill>
                  </a:tcPr>
                </a:tc>
                <a:tc>
                  <a:txBody>
                    <a:bodyPr/>
                    <a:lstStyle/>
                    <a:p>
                      <a:pPr algn="l">
                        <a:defRPr sz="1100">
                          <a:solidFill>
                            <a:srgbClr val="0F172A"/>
                          </a:solidFill>
                          <a:latin typeface="Calibri"/>
                        </a:defRPr>
                      </a:pPr>
                      <a:r>
                        <a:t>None</a:t>
                      </a:r>
                    </a:p>
                  </a:txBody>
                  <a:tcPr>
                    <a:solidFill>
                      <a:srgbClr val="FFFFFF"/>
                    </a:solidFill>
                  </a:tcPr>
                </a:tc>
                <a:tc>
                  <a:txBody>
                    <a:bodyPr/>
                    <a:lstStyle/>
                    <a:p>
                      <a:pPr algn="l">
                        <a:defRPr sz="1100">
                          <a:solidFill>
                            <a:srgbClr val="0F172A"/>
                          </a:solidFill>
                          <a:latin typeface="Calibri"/>
                        </a:defRPr>
                      </a:pPr>
                      <a:r>
                        <a:t>Centralized governance</a:t>
                      </a:r>
                    </a:p>
                  </a:txBody>
                  <a:tcPr>
                    <a:solidFill>
                      <a:srgbClr val="FFFFFF"/>
                    </a:solidFill>
                  </a:tcPr>
                </a:tc>
              </a:tr>
            </a:tbl>
          </a:graphicData>
        </a:graphic>
      </p:graphicFrame>
      <p:sp>
        <p:nvSpPr>
          <p:cNvPr id="6" name="Rounded Rectangle 5"/>
          <p:cNvSpPr/>
          <p:nvPr/>
        </p:nvSpPr>
        <p:spPr>
          <a:xfrm>
            <a:off x="731520" y="4846320"/>
            <a:ext cx="256032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Recall &gt; Precision</a:t>
            </a:r>
          </a:p>
        </p:txBody>
      </p:sp>
      <p:sp>
        <p:nvSpPr>
          <p:cNvPr id="7" name="TextBox 6"/>
          <p:cNvSpPr txBox="1"/>
          <p:nvPr/>
        </p:nvSpPr>
        <p:spPr>
          <a:xfrm>
            <a:off x="822960" y="5349240"/>
            <a:ext cx="2377440" cy="36576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Over-flag, never miss</a:t>
            </a:r>
          </a:p>
        </p:txBody>
      </p:sp>
      <p:sp>
        <p:nvSpPr>
          <p:cNvPr id="8" name="Rounded Rectangle 7"/>
          <p:cNvSpPr/>
          <p:nvPr/>
        </p:nvSpPr>
        <p:spPr>
          <a:xfrm>
            <a:off x="3566160" y="4846320"/>
            <a:ext cx="256032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Human-in-the-Loop</a:t>
            </a:r>
          </a:p>
        </p:txBody>
      </p:sp>
      <p:sp>
        <p:nvSpPr>
          <p:cNvPr id="9" name="TextBox 8"/>
          <p:cNvSpPr txBox="1"/>
          <p:nvPr/>
        </p:nvSpPr>
        <p:spPr>
          <a:xfrm>
            <a:off x="3657600" y="5349240"/>
            <a:ext cx="2377440" cy="36576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AI assists, humans decide</a:t>
            </a:r>
          </a:p>
        </p:txBody>
      </p:sp>
      <p:sp>
        <p:nvSpPr>
          <p:cNvPr id="10" name="Rounded Rectangle 9"/>
          <p:cNvSpPr/>
          <p:nvPr/>
        </p:nvSpPr>
        <p:spPr>
          <a:xfrm>
            <a:off x="6400800" y="4846320"/>
            <a:ext cx="256032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Audit Trail by Default</a:t>
            </a:r>
          </a:p>
        </p:txBody>
      </p:sp>
      <p:sp>
        <p:nvSpPr>
          <p:cNvPr id="11" name="TextBox 10"/>
          <p:cNvSpPr txBox="1"/>
          <p:nvPr/>
        </p:nvSpPr>
        <p:spPr>
          <a:xfrm>
            <a:off x="6492240" y="5349240"/>
            <a:ext cx="2377440" cy="36576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Immutable logging</a:t>
            </a:r>
          </a:p>
        </p:txBody>
      </p:sp>
      <p:sp>
        <p:nvSpPr>
          <p:cNvPr id="12" name="Rounded Rectangle 11"/>
          <p:cNvSpPr/>
          <p:nvPr/>
        </p:nvSpPr>
        <p:spPr>
          <a:xfrm>
            <a:off x="9235440" y="4846320"/>
            <a:ext cx="256032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Channel-Agnostic</a:t>
            </a:r>
          </a:p>
        </p:txBody>
      </p:sp>
      <p:sp>
        <p:nvSpPr>
          <p:cNvPr id="13" name="TextBox 12"/>
          <p:cNvSpPr txBox="1"/>
          <p:nvPr/>
        </p:nvSpPr>
        <p:spPr>
          <a:xfrm>
            <a:off x="9326880" y="5349240"/>
            <a:ext cx="2377440" cy="365760"/>
          </a:xfrm>
          <a:prstGeom prst="rect">
            <a:avLst/>
          </a:prstGeom>
          <a:noFill/>
        </p:spPr>
        <p:txBody>
          <a:bodyPr wrap="square">
            <a:spAutoFit/>
          </a:bodyPr>
          <a:lstStyle/>
          <a:p>
            <a:pPr algn="ctr">
              <a:lnSpc>
                <a:spcPts val="1320"/>
              </a:lnSpc>
              <a:spcAft>
                <a:spcPts val="0"/>
              </a:spcAft>
              <a:defRPr sz="1100" b="0">
                <a:solidFill>
                  <a:srgbClr val="6B7280"/>
                </a:solidFill>
                <a:latin typeface="Calibri"/>
              </a:defRPr>
            </a:pPr>
            <a:r>
              <a:t>Voice, SMS, email,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03</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Why Infinitus, Why Now</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Four converging signals create a narrow window</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63040" y="1828800"/>
            <a:ext cx="640080" cy="6400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1</a:t>
            </a:r>
          </a:p>
        </p:txBody>
      </p:sp>
      <p:sp>
        <p:nvSpPr>
          <p:cNvPr id="7" name="TextBox 6"/>
          <p:cNvSpPr txBox="1"/>
          <p:nvPr/>
        </p:nvSpPr>
        <p:spPr>
          <a:xfrm>
            <a:off x="640080" y="2743200"/>
            <a:ext cx="2651760" cy="731520"/>
          </a:xfrm>
          <a:prstGeom prst="rect">
            <a:avLst/>
          </a:prstGeom>
          <a:noFill/>
        </p:spPr>
        <p:txBody>
          <a:bodyPr wrap="square">
            <a:spAutoFit/>
          </a:bodyPr>
          <a:lstStyle/>
          <a:p>
            <a:pPr algn="ctr">
              <a:lnSpc>
                <a:spcPts val="1920"/>
              </a:lnSpc>
              <a:spcAft>
                <a:spcPts val="0"/>
              </a:spcAft>
              <a:defRPr sz="1600" b="1">
                <a:solidFill>
                  <a:srgbClr val="0F172A"/>
                </a:solidFill>
                <a:latin typeface="Calibri"/>
              </a:defRPr>
            </a:pPr>
            <a:r>
              <a:t>AI Agents Enter</a:t>
            </a:r>
            <a:br/>
            <a:r>
              <a:t>Regulated Conversations</a:t>
            </a:r>
          </a:p>
        </p:txBody>
      </p:sp>
      <p:sp>
        <p:nvSpPr>
          <p:cNvPr id="8" name="TextBox 7"/>
          <p:cNvSpPr txBox="1"/>
          <p:nvPr/>
        </p:nvSpPr>
        <p:spPr>
          <a:xfrm>
            <a:off x="640080" y="3566160"/>
            <a:ext cx="2651760" cy="109728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Patient support programs deploying AI agents at scale without compliance oversight</a:t>
            </a:r>
          </a:p>
        </p:txBody>
      </p:sp>
      <p:sp>
        <p:nvSpPr>
          <p:cNvPr id="9" name="Oval 8"/>
          <p:cNvSpPr/>
          <p:nvPr/>
        </p:nvSpPr>
        <p:spPr>
          <a:xfrm>
            <a:off x="4343400" y="1828800"/>
            <a:ext cx="640080" cy="6400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2</a:t>
            </a:r>
          </a:p>
        </p:txBody>
      </p:sp>
      <p:sp>
        <p:nvSpPr>
          <p:cNvPr id="10" name="TextBox 9"/>
          <p:cNvSpPr txBox="1"/>
          <p:nvPr/>
        </p:nvSpPr>
        <p:spPr>
          <a:xfrm>
            <a:off x="3520440" y="2743200"/>
            <a:ext cx="2651760" cy="731520"/>
          </a:xfrm>
          <a:prstGeom prst="rect">
            <a:avLst/>
          </a:prstGeom>
          <a:noFill/>
        </p:spPr>
        <p:txBody>
          <a:bodyPr wrap="square">
            <a:spAutoFit/>
          </a:bodyPr>
          <a:lstStyle/>
          <a:p>
            <a:pPr algn="ctr">
              <a:lnSpc>
                <a:spcPts val="1920"/>
              </a:lnSpc>
              <a:spcAft>
                <a:spcPts val="0"/>
              </a:spcAft>
              <a:defRPr sz="1600" b="1">
                <a:solidFill>
                  <a:srgbClr val="0F172A"/>
                </a:solidFill>
                <a:latin typeface="Calibri"/>
              </a:defRPr>
            </a:pPr>
            <a:r>
              <a:t>LLM Accuracy</a:t>
            </a:r>
            <a:br/>
            <a:r>
              <a:t>Crosses Threshold</a:t>
            </a:r>
          </a:p>
        </p:txBody>
      </p:sp>
      <p:sp>
        <p:nvSpPr>
          <p:cNvPr id="11" name="TextBox 10"/>
          <p:cNvSpPr txBox="1"/>
          <p:nvPr/>
        </p:nvSpPr>
        <p:spPr>
          <a:xfrm>
            <a:off x="3520440" y="3566160"/>
            <a:ext cx="2651760" cy="109728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Medical NLP enables 95%+ AE recall without overwhelming reviewers</a:t>
            </a:r>
          </a:p>
        </p:txBody>
      </p:sp>
      <p:sp>
        <p:nvSpPr>
          <p:cNvPr id="12" name="Oval 11"/>
          <p:cNvSpPr/>
          <p:nvPr/>
        </p:nvSpPr>
        <p:spPr>
          <a:xfrm>
            <a:off x="7223760" y="1828800"/>
            <a:ext cx="640080" cy="6400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3</a:t>
            </a:r>
          </a:p>
        </p:txBody>
      </p:sp>
      <p:sp>
        <p:nvSpPr>
          <p:cNvPr id="13" name="TextBox 12"/>
          <p:cNvSpPr txBox="1"/>
          <p:nvPr/>
        </p:nvSpPr>
        <p:spPr>
          <a:xfrm>
            <a:off x="6400800" y="2743200"/>
            <a:ext cx="2651760" cy="731520"/>
          </a:xfrm>
          <a:prstGeom prst="rect">
            <a:avLst/>
          </a:prstGeom>
          <a:noFill/>
        </p:spPr>
        <p:txBody>
          <a:bodyPr wrap="square">
            <a:spAutoFit/>
          </a:bodyPr>
          <a:lstStyle/>
          <a:p>
            <a:pPr algn="ctr">
              <a:lnSpc>
                <a:spcPts val="1920"/>
              </a:lnSpc>
              <a:spcAft>
                <a:spcPts val="0"/>
              </a:spcAft>
              <a:defRPr sz="1600" b="1">
                <a:solidFill>
                  <a:srgbClr val="0F172A"/>
                </a:solidFill>
                <a:latin typeface="Calibri"/>
              </a:defRPr>
            </a:pPr>
            <a:r>
              <a:t>Regulators</a:t>
            </a:r>
            <a:br/>
            <a:r>
              <a:t>Signal Intent</a:t>
            </a:r>
          </a:p>
        </p:txBody>
      </p:sp>
      <p:sp>
        <p:nvSpPr>
          <p:cNvPr id="14" name="TextBox 13"/>
          <p:cNvSpPr txBox="1"/>
          <p:nvPr/>
        </p:nvSpPr>
        <p:spPr>
          <a:xfrm>
            <a:off x="6400800" y="3566160"/>
            <a:ext cx="2651760" cy="109728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FDA AI/ML framework, EU AI Act high-risk classification for healthcare AI</a:t>
            </a:r>
          </a:p>
        </p:txBody>
      </p:sp>
      <p:sp>
        <p:nvSpPr>
          <p:cNvPr id="15" name="Oval 14"/>
          <p:cNvSpPr/>
          <p:nvPr/>
        </p:nvSpPr>
        <p:spPr>
          <a:xfrm>
            <a:off x="10104120" y="1828800"/>
            <a:ext cx="640080" cy="6400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4</a:t>
            </a:r>
          </a:p>
        </p:txBody>
      </p:sp>
      <p:sp>
        <p:nvSpPr>
          <p:cNvPr id="16" name="TextBox 15"/>
          <p:cNvSpPr txBox="1"/>
          <p:nvPr/>
        </p:nvSpPr>
        <p:spPr>
          <a:xfrm>
            <a:off x="9281160" y="2743200"/>
            <a:ext cx="2651760" cy="731520"/>
          </a:xfrm>
          <a:prstGeom prst="rect">
            <a:avLst/>
          </a:prstGeom>
          <a:noFill/>
        </p:spPr>
        <p:txBody>
          <a:bodyPr wrap="square">
            <a:spAutoFit/>
          </a:bodyPr>
          <a:lstStyle/>
          <a:p>
            <a:pPr algn="ctr">
              <a:lnSpc>
                <a:spcPts val="1920"/>
              </a:lnSpc>
              <a:spcAft>
                <a:spcPts val="0"/>
              </a:spcAft>
              <a:defRPr sz="1600" b="1">
                <a:solidFill>
                  <a:srgbClr val="0F172A"/>
                </a:solidFill>
                <a:latin typeface="Calibri"/>
              </a:defRPr>
            </a:pPr>
            <a:r>
              <a:t>Infinitus Has</a:t>
            </a:r>
            <a:br/>
            <a:r>
              <a:t>the Infrastructure</a:t>
            </a:r>
          </a:p>
        </p:txBody>
      </p:sp>
      <p:sp>
        <p:nvSpPr>
          <p:cNvPr id="17" name="TextBox 16"/>
          <p:cNvSpPr txBox="1"/>
          <p:nvPr/>
        </p:nvSpPr>
        <p:spPr>
          <a:xfrm>
            <a:off x="9281160" y="3566160"/>
            <a:ext cx="2651760" cy="109728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Not a cold start — conversation processing at scale already exists</a:t>
            </a:r>
          </a:p>
        </p:txBody>
      </p:sp>
      <p:sp>
        <p:nvSpPr>
          <p:cNvPr id="18" name="TextBox 17"/>
          <p:cNvSpPr txBox="1"/>
          <p:nvPr/>
        </p:nvSpPr>
        <p:spPr>
          <a:xfrm>
            <a:off x="1097280" y="5029200"/>
            <a:ext cx="2286000" cy="457200"/>
          </a:xfrm>
          <a:prstGeom prst="rect">
            <a:avLst/>
          </a:prstGeom>
          <a:noFill/>
        </p:spPr>
        <p:txBody>
          <a:bodyPr wrap="square">
            <a:spAutoFit/>
          </a:bodyPr>
          <a:lstStyle/>
          <a:p>
            <a:pPr algn="ctr">
              <a:lnSpc>
                <a:spcPts val="3360"/>
              </a:lnSpc>
              <a:spcAft>
                <a:spcPts val="0"/>
              </a:spcAft>
              <a:defRPr sz="2800" b="1">
                <a:solidFill>
                  <a:srgbClr val="0D9488"/>
                </a:solidFill>
                <a:latin typeface="Calibri"/>
              </a:defRPr>
            </a:pPr>
            <a:r>
              <a:t>100M+ min</a:t>
            </a:r>
          </a:p>
        </p:txBody>
      </p:sp>
      <p:sp>
        <p:nvSpPr>
          <p:cNvPr id="19" name="TextBox 18"/>
          <p:cNvSpPr txBox="1"/>
          <p:nvPr/>
        </p:nvSpPr>
        <p:spPr>
          <a:xfrm>
            <a:off x="1097280" y="5486400"/>
            <a:ext cx="2286000" cy="36576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Conversations</a:t>
            </a:r>
          </a:p>
        </p:txBody>
      </p:sp>
      <p:sp>
        <p:nvSpPr>
          <p:cNvPr id="20" name="TextBox 19"/>
          <p:cNvSpPr txBox="1"/>
          <p:nvPr/>
        </p:nvSpPr>
        <p:spPr>
          <a:xfrm>
            <a:off x="3749040" y="5029200"/>
            <a:ext cx="2286000" cy="457200"/>
          </a:xfrm>
          <a:prstGeom prst="rect">
            <a:avLst/>
          </a:prstGeom>
          <a:noFill/>
        </p:spPr>
        <p:txBody>
          <a:bodyPr wrap="square">
            <a:spAutoFit/>
          </a:bodyPr>
          <a:lstStyle/>
          <a:p>
            <a:pPr algn="ctr">
              <a:lnSpc>
                <a:spcPts val="3360"/>
              </a:lnSpc>
              <a:spcAft>
                <a:spcPts val="0"/>
              </a:spcAft>
              <a:defRPr sz="2800" b="1">
                <a:solidFill>
                  <a:srgbClr val="0D9488"/>
                </a:solidFill>
                <a:latin typeface="Calibri"/>
              </a:defRPr>
            </a:pPr>
            <a:r>
              <a:t>7M+</a:t>
            </a:r>
          </a:p>
        </p:txBody>
      </p:sp>
      <p:sp>
        <p:nvSpPr>
          <p:cNvPr id="21" name="TextBox 20"/>
          <p:cNvSpPr txBox="1"/>
          <p:nvPr/>
        </p:nvSpPr>
        <p:spPr>
          <a:xfrm>
            <a:off x="3749040" y="5486400"/>
            <a:ext cx="2286000" cy="36576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Calls Processed</a:t>
            </a:r>
          </a:p>
        </p:txBody>
      </p:sp>
      <p:sp>
        <p:nvSpPr>
          <p:cNvPr id="22" name="TextBox 21"/>
          <p:cNvSpPr txBox="1"/>
          <p:nvPr/>
        </p:nvSpPr>
        <p:spPr>
          <a:xfrm>
            <a:off x="6400800" y="5029200"/>
            <a:ext cx="2286000" cy="457200"/>
          </a:xfrm>
          <a:prstGeom prst="rect">
            <a:avLst/>
          </a:prstGeom>
          <a:noFill/>
        </p:spPr>
        <p:txBody>
          <a:bodyPr wrap="square">
            <a:spAutoFit/>
          </a:bodyPr>
          <a:lstStyle/>
          <a:p>
            <a:pPr algn="ctr">
              <a:lnSpc>
                <a:spcPts val="3360"/>
              </a:lnSpc>
              <a:spcAft>
                <a:spcPts val="0"/>
              </a:spcAft>
              <a:defRPr sz="2800" b="1">
                <a:solidFill>
                  <a:srgbClr val="0D9488"/>
                </a:solidFill>
                <a:latin typeface="Calibri"/>
              </a:defRPr>
            </a:pPr>
            <a:r>
              <a:t>1,000+</a:t>
            </a:r>
          </a:p>
        </p:txBody>
      </p:sp>
      <p:sp>
        <p:nvSpPr>
          <p:cNvPr id="23" name="TextBox 22"/>
          <p:cNvSpPr txBox="1"/>
          <p:nvPr/>
        </p:nvSpPr>
        <p:spPr>
          <a:xfrm>
            <a:off x="6400800" y="5486400"/>
            <a:ext cx="2286000" cy="36576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Therapies</a:t>
            </a:r>
          </a:p>
        </p:txBody>
      </p:sp>
      <p:sp>
        <p:nvSpPr>
          <p:cNvPr id="24" name="TextBox 23"/>
          <p:cNvSpPr txBox="1"/>
          <p:nvPr/>
        </p:nvSpPr>
        <p:spPr>
          <a:xfrm>
            <a:off x="9052560" y="5029200"/>
            <a:ext cx="2286000" cy="457200"/>
          </a:xfrm>
          <a:prstGeom prst="rect">
            <a:avLst/>
          </a:prstGeom>
          <a:noFill/>
        </p:spPr>
        <p:txBody>
          <a:bodyPr wrap="square">
            <a:spAutoFit/>
          </a:bodyPr>
          <a:lstStyle/>
          <a:p>
            <a:pPr algn="ctr">
              <a:lnSpc>
                <a:spcPts val="3360"/>
              </a:lnSpc>
              <a:spcAft>
                <a:spcPts val="0"/>
              </a:spcAft>
              <a:defRPr sz="2800" b="1">
                <a:solidFill>
                  <a:srgbClr val="0D9488"/>
                </a:solidFill>
                <a:latin typeface="Calibri"/>
              </a:defRPr>
            </a:pPr>
            <a:r>
              <a:t>44%</a:t>
            </a:r>
          </a:p>
        </p:txBody>
      </p:sp>
      <p:sp>
        <p:nvSpPr>
          <p:cNvPr id="25" name="TextBox 24"/>
          <p:cNvSpPr txBox="1"/>
          <p:nvPr/>
        </p:nvSpPr>
        <p:spPr>
          <a:xfrm>
            <a:off x="9052560" y="5486400"/>
            <a:ext cx="2286000" cy="36576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Healthcare F50</a:t>
            </a:r>
          </a:p>
        </p:txBody>
      </p:sp>
      <p:sp>
        <p:nvSpPr>
          <p:cNvPr id="26" name="TextBox 25"/>
          <p:cNvSpPr txBox="1"/>
          <p:nvPr/>
        </p:nvSpPr>
        <p:spPr>
          <a:xfrm>
            <a:off x="914400" y="6035040"/>
            <a:ext cx="10332720" cy="365760"/>
          </a:xfrm>
          <a:prstGeom prst="rect">
            <a:avLst/>
          </a:prstGeom>
          <a:noFill/>
        </p:spPr>
        <p:txBody>
          <a:bodyPr wrap="square">
            <a:spAutoFit/>
          </a:bodyPr>
          <a:lstStyle/>
          <a:p>
            <a:pPr algn="ctr">
              <a:lnSpc>
                <a:spcPts val="1680"/>
              </a:lnSpc>
              <a:spcAft>
                <a:spcPts val="0"/>
              </a:spcAft>
              <a:defRPr sz="1400" b="1">
                <a:solidFill>
                  <a:srgbClr val="0F172A"/>
                </a:solidFill>
                <a:latin typeface="Calibri"/>
              </a:defRPr>
            </a:pPr>
            <a:r>
              <a:t>A competitor would need 18-24 months to replicate these advantages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04</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Target Users &amp; Personas</a:t>
            </a:r>
          </a:p>
        </p:txBody>
      </p:sp>
      <p:sp>
        <p:nvSpPr>
          <p:cNvPr id="4" name="Rectangle 3"/>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2651760" cy="4389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28800"/>
            <a:ext cx="2377440" cy="7315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PV Specialist</a:t>
            </a:r>
            <a:br/>
            <a:r>
              <a:t>Primary User</a:t>
            </a:r>
          </a:p>
        </p:txBody>
      </p:sp>
      <p:sp>
        <p:nvSpPr>
          <p:cNvPr id="7" name="TextBox 6"/>
          <p:cNvSpPr txBox="1"/>
          <p:nvPr/>
        </p:nvSpPr>
        <p:spPr>
          <a:xfrm>
            <a:off x="777240" y="2743200"/>
            <a:ext cx="2194560" cy="1828800"/>
          </a:xfrm>
          <a:prstGeom prst="rect">
            <a:avLst/>
          </a:prstGeom>
          <a:noFill/>
        </p:spPr>
        <p:txBody>
          <a:bodyPr wrap="square">
            <a:spAutoFit/>
          </a:bodyPr>
          <a:lstStyle/>
          <a:p>
            <a:pPr algn="l">
              <a:lnSpc>
                <a:spcPts val="1920"/>
              </a:lnSpc>
              <a:spcAft>
                <a:spcPts val="0"/>
              </a:spcAft>
              <a:defRPr sz="1200" b="0">
                <a:solidFill>
                  <a:srgbClr val="0F172A"/>
                </a:solidFill>
                <a:latin typeface="Calibri"/>
              </a:defRPr>
            </a:pPr>
            <a:r>
              <a:t>Reviews AI-flagged cases</a:t>
            </a:r>
            <a:br/>
            <a:r>
              <a:t>Confirm/dismiss/escalate AEs</a:t>
            </a:r>
            <a:br/>
            <a:r>
              <a:t>&lt;4 min per case target</a:t>
            </a:r>
          </a:p>
        </p:txBody>
      </p:sp>
      <p:sp>
        <p:nvSpPr>
          <p:cNvPr id="8" name="Rounded Rectangle 7"/>
          <p:cNvSpPr/>
          <p:nvPr/>
        </p:nvSpPr>
        <p:spPr>
          <a:xfrm>
            <a:off x="822960" y="5120640"/>
            <a:ext cx="2103120" cy="36576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0">
                <a:solidFill>
                  <a:srgbClr val="0F172A"/>
                </a:solidFill>
                <a:latin typeface="Calibri"/>
              </a:defRPr>
            </a:pPr>
            <a:r>
              <a:t>Primary: Case Detail View</a:t>
            </a:r>
          </a:p>
        </p:txBody>
      </p:sp>
      <p:sp>
        <p:nvSpPr>
          <p:cNvPr id="9" name="Rounded Rectangle 8"/>
          <p:cNvSpPr/>
          <p:nvPr/>
        </p:nvSpPr>
        <p:spPr>
          <a:xfrm>
            <a:off x="3429000" y="1645920"/>
            <a:ext cx="2651760" cy="4389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66160" y="1828800"/>
            <a:ext cx="2377440" cy="73152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Operations Lead</a:t>
            </a:r>
            <a:br/>
            <a:r>
              <a:t>Power User</a:t>
            </a:r>
          </a:p>
        </p:txBody>
      </p:sp>
      <p:sp>
        <p:nvSpPr>
          <p:cNvPr id="11" name="TextBox 10"/>
          <p:cNvSpPr txBox="1"/>
          <p:nvPr/>
        </p:nvSpPr>
        <p:spPr>
          <a:xfrm>
            <a:off x="3657600" y="2743200"/>
            <a:ext cx="2194560" cy="1828800"/>
          </a:xfrm>
          <a:prstGeom prst="rect">
            <a:avLst/>
          </a:prstGeom>
          <a:noFill/>
        </p:spPr>
        <p:txBody>
          <a:bodyPr wrap="square">
            <a:spAutoFit/>
          </a:bodyPr>
          <a:lstStyle/>
          <a:p>
            <a:pPr algn="l">
              <a:lnSpc>
                <a:spcPts val="1920"/>
              </a:lnSpc>
              <a:spcAft>
                <a:spcPts val="0"/>
              </a:spcAft>
              <a:defRPr sz="1200" b="0">
                <a:solidFill>
                  <a:srgbClr val="0F172A"/>
                </a:solidFill>
                <a:latin typeface="Calibri"/>
              </a:defRPr>
            </a:pPr>
            <a:r>
              <a:t>Monitors SOP adherence</a:t>
            </a:r>
            <a:br/>
            <a:r>
              <a:t>Agent coaching decisions</a:t>
            </a:r>
            <a:br/>
            <a:r>
              <a:t>Trend analysis</a:t>
            </a:r>
          </a:p>
        </p:txBody>
      </p:sp>
      <p:sp>
        <p:nvSpPr>
          <p:cNvPr id="12" name="Rounded Rectangle 11"/>
          <p:cNvSpPr/>
          <p:nvPr/>
        </p:nvSpPr>
        <p:spPr>
          <a:xfrm>
            <a:off x="3703320" y="5120640"/>
            <a:ext cx="2103120" cy="36576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0">
                <a:solidFill>
                  <a:srgbClr val="0F172A"/>
                </a:solidFill>
                <a:latin typeface="Calibri"/>
              </a:defRPr>
            </a:pPr>
            <a:r>
              <a:t>Primary: SOP Dashboard</a:t>
            </a:r>
          </a:p>
        </p:txBody>
      </p:sp>
      <p:sp>
        <p:nvSpPr>
          <p:cNvPr id="13" name="Rounded Rectangle 12"/>
          <p:cNvSpPr/>
          <p:nvPr/>
        </p:nvSpPr>
        <p:spPr>
          <a:xfrm>
            <a:off x="6309360" y="1645920"/>
            <a:ext cx="2651760" cy="4389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46520" y="1828800"/>
            <a:ext cx="2377440" cy="7315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Compliance VP</a:t>
            </a:r>
            <a:br/>
            <a:r>
              <a:t>Economic Buyer</a:t>
            </a:r>
          </a:p>
        </p:txBody>
      </p:sp>
      <p:sp>
        <p:nvSpPr>
          <p:cNvPr id="15" name="TextBox 14"/>
          <p:cNvSpPr txBox="1"/>
          <p:nvPr/>
        </p:nvSpPr>
        <p:spPr>
          <a:xfrm>
            <a:off x="6537960" y="2743200"/>
            <a:ext cx="2194560" cy="1828800"/>
          </a:xfrm>
          <a:prstGeom prst="rect">
            <a:avLst/>
          </a:prstGeom>
          <a:noFill/>
        </p:spPr>
        <p:txBody>
          <a:bodyPr wrap="square">
            <a:spAutoFit/>
          </a:bodyPr>
          <a:lstStyle/>
          <a:p>
            <a:pPr algn="l">
              <a:lnSpc>
                <a:spcPts val="1920"/>
              </a:lnSpc>
              <a:spcAft>
                <a:spcPts val="0"/>
              </a:spcAft>
              <a:defRPr sz="1200" b="0">
                <a:solidFill>
                  <a:srgbClr val="0F172A"/>
                </a:solidFill>
                <a:latin typeface="Calibri"/>
              </a:defRPr>
            </a:pPr>
            <a:r>
              <a:t>Owns regulatory risk</a:t>
            </a:r>
            <a:br/>
            <a:r>
              <a:t>Audit readiness</a:t>
            </a:r>
            <a:br/>
            <a:r>
              <a:t>Vendor procurement</a:t>
            </a:r>
          </a:p>
        </p:txBody>
      </p:sp>
      <p:sp>
        <p:nvSpPr>
          <p:cNvPr id="16" name="Rounded Rectangle 15"/>
          <p:cNvSpPr/>
          <p:nvPr/>
        </p:nvSpPr>
        <p:spPr>
          <a:xfrm>
            <a:off x="6583680" y="5120640"/>
            <a:ext cx="2103120" cy="36576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0">
                <a:solidFill>
                  <a:srgbClr val="0F172A"/>
                </a:solidFill>
                <a:latin typeface="Calibri"/>
              </a:defRPr>
            </a:pPr>
            <a:r>
              <a:t>Primary: Executive Reports</a:t>
            </a:r>
          </a:p>
        </p:txBody>
      </p:sp>
      <p:sp>
        <p:nvSpPr>
          <p:cNvPr id="17" name="Rounded Rectangle 16"/>
          <p:cNvSpPr/>
          <p:nvPr/>
        </p:nvSpPr>
        <p:spPr>
          <a:xfrm>
            <a:off x="9189720" y="1645920"/>
            <a:ext cx="2651760" cy="4389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26880" y="1828800"/>
            <a:ext cx="2377440" cy="731520"/>
          </a:xfrm>
          <a:prstGeom prst="round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IT/Security</a:t>
            </a:r>
            <a:br/>
            <a:r>
              <a:t>Gatekeeper</a:t>
            </a:r>
          </a:p>
        </p:txBody>
      </p:sp>
      <p:sp>
        <p:nvSpPr>
          <p:cNvPr id="19" name="TextBox 18"/>
          <p:cNvSpPr txBox="1"/>
          <p:nvPr/>
        </p:nvSpPr>
        <p:spPr>
          <a:xfrm>
            <a:off x="9418320" y="2743200"/>
            <a:ext cx="2194560" cy="1828800"/>
          </a:xfrm>
          <a:prstGeom prst="rect">
            <a:avLst/>
          </a:prstGeom>
          <a:noFill/>
        </p:spPr>
        <p:txBody>
          <a:bodyPr wrap="square">
            <a:spAutoFit/>
          </a:bodyPr>
          <a:lstStyle/>
          <a:p>
            <a:pPr algn="l">
              <a:lnSpc>
                <a:spcPts val="1920"/>
              </a:lnSpc>
              <a:spcAft>
                <a:spcPts val="0"/>
              </a:spcAft>
              <a:defRPr sz="1200" b="0">
                <a:solidFill>
                  <a:srgbClr val="0F172A"/>
                </a:solidFill>
                <a:latin typeface="Calibri"/>
              </a:defRPr>
            </a:pPr>
            <a:r>
              <a:t>HIPAA validation</a:t>
            </a:r>
            <a:br/>
            <a:r>
              <a:t>SSO/RBAC config</a:t>
            </a:r>
            <a:br/>
            <a:r>
              <a:t>Data pipeline security</a:t>
            </a:r>
          </a:p>
        </p:txBody>
      </p:sp>
      <p:sp>
        <p:nvSpPr>
          <p:cNvPr id="20" name="Rounded Rectangle 19"/>
          <p:cNvSpPr/>
          <p:nvPr/>
        </p:nvSpPr>
        <p:spPr>
          <a:xfrm>
            <a:off x="9464040" y="5120640"/>
            <a:ext cx="2103120" cy="36576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0">
                <a:solidFill>
                  <a:srgbClr val="0F172A"/>
                </a:solidFill>
                <a:latin typeface="Calibri"/>
              </a:defRPr>
            </a:pPr>
            <a:r>
              <a:t>Primary: Admin Console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04</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MVP Feature Prioritization</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V1: Complete the AE detection workflow before expanding</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828800"/>
            <a:ext cx="15544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F1</a:t>
            </a:r>
          </a:p>
        </p:txBody>
      </p:sp>
      <p:sp>
        <p:nvSpPr>
          <p:cNvPr id="7" name="Rounded Rectangle 6"/>
          <p:cNvSpPr/>
          <p:nvPr/>
        </p:nvSpPr>
        <p:spPr>
          <a:xfrm>
            <a:off x="457200" y="2194560"/>
            <a:ext cx="1554480" cy="109728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F172A"/>
                </a:solidFill>
                <a:latin typeface="Calibri"/>
              </a:defRPr>
            </a:pPr>
            <a:r>
              <a:t>Voice Call</a:t>
            </a:r>
            <a:br/>
            <a:r>
              <a:t>Ingestion</a:t>
            </a:r>
          </a:p>
        </p:txBody>
      </p:sp>
      <p:sp>
        <p:nvSpPr>
          <p:cNvPr id="8" name="TextBox 7"/>
          <p:cNvSpPr txBox="1"/>
          <p:nvPr/>
        </p:nvSpPr>
        <p:spPr>
          <a:xfrm>
            <a:off x="502920" y="338328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No data = nothing</a:t>
            </a:r>
            <a:br/>
            <a:r>
              <a:t>to analyze</a:t>
            </a:r>
          </a:p>
        </p:txBody>
      </p:sp>
      <p:sp>
        <p:nvSpPr>
          <p:cNvPr id="9" name="Right Arrow 8"/>
          <p:cNvSpPr/>
          <p:nvPr/>
        </p:nvSpPr>
        <p:spPr>
          <a:xfrm>
            <a:off x="2057400" y="2468880"/>
            <a:ext cx="274320"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77440" y="1828800"/>
            <a:ext cx="15544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F2</a:t>
            </a:r>
          </a:p>
        </p:txBody>
      </p:sp>
      <p:sp>
        <p:nvSpPr>
          <p:cNvPr id="11" name="Rounded Rectangle 10"/>
          <p:cNvSpPr/>
          <p:nvPr/>
        </p:nvSpPr>
        <p:spPr>
          <a:xfrm>
            <a:off x="2377440" y="2194560"/>
            <a:ext cx="1554480" cy="109728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F172A"/>
                </a:solidFill>
                <a:latin typeface="Calibri"/>
              </a:defRPr>
            </a:pPr>
            <a:r>
              <a:t>AE Detection</a:t>
            </a:r>
            <a:br/>
            <a:r>
              <a:t>Engine</a:t>
            </a:r>
          </a:p>
        </p:txBody>
      </p:sp>
      <p:sp>
        <p:nvSpPr>
          <p:cNvPr id="12" name="TextBox 11"/>
          <p:cNvSpPr txBox="1"/>
          <p:nvPr/>
        </p:nvSpPr>
        <p:spPr>
          <a:xfrm>
            <a:off x="2423160" y="338328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FDA 15-day mandate</a:t>
            </a:r>
            <a:br/>
            <a:r>
              <a:t>makes this top risk</a:t>
            </a:r>
          </a:p>
        </p:txBody>
      </p:sp>
      <p:sp>
        <p:nvSpPr>
          <p:cNvPr id="13" name="Right Arrow 12"/>
          <p:cNvSpPr/>
          <p:nvPr/>
        </p:nvSpPr>
        <p:spPr>
          <a:xfrm>
            <a:off x="3977640" y="2468880"/>
            <a:ext cx="274320"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7680" y="1828800"/>
            <a:ext cx="15544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F3</a:t>
            </a:r>
          </a:p>
        </p:txBody>
      </p:sp>
      <p:sp>
        <p:nvSpPr>
          <p:cNvPr id="15" name="Rounded Rectangle 14"/>
          <p:cNvSpPr/>
          <p:nvPr/>
        </p:nvSpPr>
        <p:spPr>
          <a:xfrm>
            <a:off x="4297680" y="2194560"/>
            <a:ext cx="1554480" cy="109728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F172A"/>
                </a:solidFill>
                <a:latin typeface="Calibri"/>
              </a:defRPr>
            </a:pPr>
            <a:r>
              <a:t>Case Queue</a:t>
            </a:r>
          </a:p>
        </p:txBody>
      </p:sp>
      <p:sp>
        <p:nvSpPr>
          <p:cNvPr id="16" name="TextBox 15"/>
          <p:cNvSpPr txBox="1"/>
          <p:nvPr/>
        </p:nvSpPr>
        <p:spPr>
          <a:xfrm>
            <a:off x="4343400" y="338328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100% coverage needs</a:t>
            </a:r>
            <a:br/>
            <a:r>
              <a:t>structured triage</a:t>
            </a:r>
          </a:p>
        </p:txBody>
      </p:sp>
      <p:sp>
        <p:nvSpPr>
          <p:cNvPr id="17" name="Right Arrow 16"/>
          <p:cNvSpPr/>
          <p:nvPr/>
        </p:nvSpPr>
        <p:spPr>
          <a:xfrm>
            <a:off x="5897880" y="2468880"/>
            <a:ext cx="274320"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828800"/>
            <a:ext cx="15544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F4</a:t>
            </a:r>
          </a:p>
        </p:txBody>
      </p:sp>
      <p:sp>
        <p:nvSpPr>
          <p:cNvPr id="19" name="Rounded Rectangle 18"/>
          <p:cNvSpPr/>
          <p:nvPr/>
        </p:nvSpPr>
        <p:spPr>
          <a:xfrm>
            <a:off x="6217920" y="2194560"/>
            <a:ext cx="1554480" cy="109728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F172A"/>
                </a:solidFill>
                <a:latin typeface="Calibri"/>
              </a:defRPr>
            </a:pPr>
            <a:r>
              <a:t>Case Detail</a:t>
            </a:r>
            <a:br/>
            <a:r>
              <a:t>View</a:t>
            </a:r>
          </a:p>
        </p:txBody>
      </p:sp>
      <p:sp>
        <p:nvSpPr>
          <p:cNvPr id="20" name="TextBox 19"/>
          <p:cNvSpPr txBox="1"/>
          <p:nvPr/>
        </p:nvSpPr>
        <p:spPr>
          <a:xfrm>
            <a:off x="6263640" y="338328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Evidence + MedWatch</a:t>
            </a:r>
            <a:br/>
            <a:r>
              <a:t>in one surface</a:t>
            </a:r>
          </a:p>
        </p:txBody>
      </p:sp>
      <p:sp>
        <p:nvSpPr>
          <p:cNvPr id="21" name="Right Arrow 20"/>
          <p:cNvSpPr/>
          <p:nvPr/>
        </p:nvSpPr>
        <p:spPr>
          <a:xfrm>
            <a:off x="7818120" y="2468880"/>
            <a:ext cx="274320"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38160" y="1828800"/>
            <a:ext cx="15544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F5</a:t>
            </a:r>
          </a:p>
        </p:txBody>
      </p:sp>
      <p:sp>
        <p:nvSpPr>
          <p:cNvPr id="23" name="Rounded Rectangle 22"/>
          <p:cNvSpPr/>
          <p:nvPr/>
        </p:nvSpPr>
        <p:spPr>
          <a:xfrm>
            <a:off x="8138160" y="2194560"/>
            <a:ext cx="1554480" cy="109728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F172A"/>
                </a:solidFill>
                <a:latin typeface="Calibri"/>
              </a:defRPr>
            </a:pPr>
            <a:r>
              <a:t>Audit-Ready</a:t>
            </a:r>
            <a:br/>
            <a:r>
              <a:t>Export</a:t>
            </a:r>
          </a:p>
        </p:txBody>
      </p:sp>
      <p:sp>
        <p:nvSpPr>
          <p:cNvPr id="24" name="TextBox 23"/>
          <p:cNvSpPr txBox="1"/>
          <p:nvPr/>
        </p:nvSpPr>
        <p:spPr>
          <a:xfrm>
            <a:off x="8183880" y="338328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Prerequisite for</a:t>
            </a:r>
            <a:br/>
            <a:r>
              <a:t>compliance sign-off</a:t>
            </a:r>
          </a:p>
        </p:txBody>
      </p:sp>
      <p:sp>
        <p:nvSpPr>
          <p:cNvPr id="25" name="Right Arrow 24"/>
          <p:cNvSpPr/>
          <p:nvPr/>
        </p:nvSpPr>
        <p:spPr>
          <a:xfrm>
            <a:off x="9738360" y="2468880"/>
            <a:ext cx="274320"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0" y="1828800"/>
            <a:ext cx="15544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F6</a:t>
            </a:r>
          </a:p>
        </p:txBody>
      </p:sp>
      <p:sp>
        <p:nvSpPr>
          <p:cNvPr id="27" name="Rounded Rectangle 26"/>
          <p:cNvSpPr/>
          <p:nvPr/>
        </p:nvSpPr>
        <p:spPr>
          <a:xfrm>
            <a:off x="10058400" y="2194560"/>
            <a:ext cx="1554480" cy="109728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F172A"/>
                </a:solidFill>
                <a:latin typeface="Calibri"/>
              </a:defRPr>
            </a:pPr>
            <a:r>
              <a:t>Studio</a:t>
            </a:r>
            <a:br/>
            <a:r>
              <a:t>Integration</a:t>
            </a:r>
          </a:p>
        </p:txBody>
      </p:sp>
      <p:sp>
        <p:nvSpPr>
          <p:cNvPr id="28" name="TextBox 27"/>
          <p:cNvSpPr txBox="1"/>
          <p:nvPr/>
        </p:nvSpPr>
        <p:spPr>
          <a:xfrm>
            <a:off x="10104120" y="338328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Closes detection</a:t>
            </a:r>
            <a:br/>
            <a:r>
              <a:t>to action loop</a:t>
            </a:r>
          </a:p>
        </p:txBody>
      </p:sp>
      <p:sp>
        <p:nvSpPr>
          <p:cNvPr id="29" name="Rectangle 28"/>
          <p:cNvSpPr/>
          <p:nvPr/>
        </p:nvSpPr>
        <p:spPr>
          <a:xfrm>
            <a:off x="457200" y="4389120"/>
            <a:ext cx="1124712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1520" y="4663440"/>
            <a:ext cx="1097280" cy="4114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V1.5</a:t>
            </a:r>
          </a:p>
        </p:txBody>
      </p:sp>
      <p:sp>
        <p:nvSpPr>
          <p:cNvPr id="31" name="TextBox 30"/>
          <p:cNvSpPr txBox="1"/>
          <p:nvPr/>
        </p:nvSpPr>
        <p:spPr>
          <a:xfrm>
            <a:off x="2103120" y="4709160"/>
            <a:ext cx="9144000" cy="365760"/>
          </a:xfrm>
          <a:prstGeom prst="rect">
            <a:avLst/>
          </a:prstGeom>
          <a:noFill/>
        </p:spPr>
        <p:txBody>
          <a:bodyPr wrap="square">
            <a:spAutoFit/>
          </a:bodyPr>
          <a:lstStyle/>
          <a:p>
            <a:pPr algn="l">
              <a:lnSpc>
                <a:spcPts val="1680"/>
              </a:lnSpc>
              <a:spcAft>
                <a:spcPts val="0"/>
              </a:spcAft>
              <a:defRPr sz="1400" b="0">
                <a:solidFill>
                  <a:srgbClr val="0F172A"/>
                </a:solidFill>
                <a:latin typeface="Calibri"/>
              </a:defRPr>
            </a:pPr>
            <a:r>
              <a:t>SOP Scoring  |  SMS &amp; Email  |  PV System Integration</a:t>
            </a:r>
          </a:p>
        </p:txBody>
      </p:sp>
      <p:sp>
        <p:nvSpPr>
          <p:cNvPr id="32" name="Rounded Rectangle 31"/>
          <p:cNvSpPr/>
          <p:nvPr/>
        </p:nvSpPr>
        <p:spPr>
          <a:xfrm>
            <a:off x="731520" y="5303520"/>
            <a:ext cx="1097280" cy="411480"/>
          </a:xfrm>
          <a:prstGeom prst="round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V2</a:t>
            </a:r>
          </a:p>
        </p:txBody>
      </p:sp>
      <p:sp>
        <p:nvSpPr>
          <p:cNvPr id="33" name="TextBox 32"/>
          <p:cNvSpPr txBox="1"/>
          <p:nvPr/>
        </p:nvSpPr>
        <p:spPr>
          <a:xfrm>
            <a:off x="2103120" y="5349240"/>
            <a:ext cx="9144000" cy="365760"/>
          </a:xfrm>
          <a:prstGeom prst="rect">
            <a:avLst/>
          </a:prstGeom>
          <a:noFill/>
        </p:spPr>
        <p:txBody>
          <a:bodyPr wrap="square">
            <a:spAutoFit/>
          </a:bodyPr>
          <a:lstStyle/>
          <a:p>
            <a:pPr algn="l">
              <a:lnSpc>
                <a:spcPts val="1680"/>
              </a:lnSpc>
              <a:spcAft>
                <a:spcPts val="0"/>
              </a:spcAft>
              <a:defRPr sz="1400" b="0">
                <a:solidFill>
                  <a:srgbClr val="0F172A"/>
                </a:solidFill>
                <a:latin typeface="Calibri"/>
              </a:defRPr>
            </a:pPr>
            <a:r>
              <a:t>Fax Intake  |  Multilingual Support</a:t>
            </a:r>
          </a:p>
        </p:txBody>
      </p:sp>
      <p:sp>
        <p:nvSpPr>
          <p:cNvPr id="34" name="Rounded Rectangle 33"/>
          <p:cNvSpPr/>
          <p:nvPr/>
        </p:nvSpPr>
        <p:spPr>
          <a:xfrm>
            <a:off x="731520" y="5943600"/>
            <a:ext cx="1097280" cy="41148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Calibri"/>
              </a:defRPr>
            </a:pPr>
            <a:r>
              <a:t>Deferred</a:t>
            </a:r>
          </a:p>
        </p:txBody>
      </p:sp>
      <p:sp>
        <p:nvSpPr>
          <p:cNvPr id="35" name="TextBox 34"/>
          <p:cNvSpPr txBox="1"/>
          <p:nvPr/>
        </p:nvSpPr>
        <p:spPr>
          <a:xfrm>
            <a:off x="2103120" y="5989320"/>
            <a:ext cx="9144000" cy="365760"/>
          </a:xfrm>
          <a:prstGeom prst="rect">
            <a:avLst/>
          </a:prstGeom>
          <a:noFill/>
        </p:spPr>
        <p:txBody>
          <a:bodyPr wrap="square">
            <a:spAutoFit/>
          </a:bodyPr>
          <a:lstStyle/>
          <a:p>
            <a:pPr algn="l">
              <a:lnSpc>
                <a:spcPts val="1680"/>
              </a:lnSpc>
              <a:spcAft>
                <a:spcPts val="0"/>
              </a:spcAft>
              <a:defRPr sz="1400" b="0">
                <a:solidFill>
                  <a:srgbClr val="0F172A"/>
                </a:solidFill>
                <a:latin typeface="Calibri"/>
              </a:defRPr>
            </a:pPr>
            <a:r>
              <a:t>Real-Time Monitoring  |  Automated FDA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05</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Product Experience: Core Workflow</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From AI flag to regulatory decision in under 4 minutes</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011680"/>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1</a:t>
            </a:r>
          </a:p>
        </p:txBody>
      </p:sp>
      <p:sp>
        <p:nvSpPr>
          <p:cNvPr id="7" name="Rounded Rectangle 6"/>
          <p:cNvSpPr/>
          <p:nvPr/>
        </p:nvSpPr>
        <p:spPr>
          <a:xfrm>
            <a:off x="365760" y="2651760"/>
            <a:ext cx="1554480" cy="10058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Conversation</a:t>
            </a:r>
            <a:br/>
            <a:r>
              <a:t>Ingested</a:t>
            </a:r>
          </a:p>
        </p:txBody>
      </p:sp>
      <p:sp>
        <p:nvSpPr>
          <p:cNvPr id="8" name="TextBox 7"/>
          <p:cNvSpPr txBox="1"/>
          <p:nvPr/>
        </p:nvSpPr>
        <p:spPr>
          <a:xfrm>
            <a:off x="411480" y="374904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Voice call enters</a:t>
            </a:r>
            <a:br/>
            <a:r>
              <a:t>processing pipeline</a:t>
            </a:r>
          </a:p>
        </p:txBody>
      </p:sp>
      <p:sp>
        <p:nvSpPr>
          <p:cNvPr id="9" name="Right Arrow 8"/>
          <p:cNvSpPr/>
          <p:nvPr/>
        </p:nvSpPr>
        <p:spPr>
          <a:xfrm>
            <a:off x="1965960" y="2880360"/>
            <a:ext cx="27432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34640" y="201168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2</a:t>
            </a:r>
          </a:p>
        </p:txBody>
      </p:sp>
      <p:sp>
        <p:nvSpPr>
          <p:cNvPr id="11" name="Rounded Rectangle 10"/>
          <p:cNvSpPr/>
          <p:nvPr/>
        </p:nvSpPr>
        <p:spPr>
          <a:xfrm>
            <a:off x="2286000" y="2651760"/>
            <a:ext cx="1554480" cy="100584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AI Analysis</a:t>
            </a:r>
          </a:p>
        </p:txBody>
      </p:sp>
      <p:sp>
        <p:nvSpPr>
          <p:cNvPr id="12" name="TextBox 11"/>
          <p:cNvSpPr txBox="1"/>
          <p:nvPr/>
        </p:nvSpPr>
        <p:spPr>
          <a:xfrm>
            <a:off x="2331720" y="374904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AE detection, severity</a:t>
            </a:r>
            <a:br/>
            <a:r>
              <a:t>scoring, MedWatch extract</a:t>
            </a:r>
          </a:p>
        </p:txBody>
      </p:sp>
      <p:sp>
        <p:nvSpPr>
          <p:cNvPr id="13" name="Right Arrow 12"/>
          <p:cNvSpPr/>
          <p:nvPr/>
        </p:nvSpPr>
        <p:spPr>
          <a:xfrm>
            <a:off x="3886200" y="2880360"/>
            <a:ext cx="27432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54880" y="2011680"/>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3</a:t>
            </a:r>
          </a:p>
        </p:txBody>
      </p:sp>
      <p:sp>
        <p:nvSpPr>
          <p:cNvPr id="15" name="Rounded Rectangle 14"/>
          <p:cNvSpPr/>
          <p:nvPr/>
        </p:nvSpPr>
        <p:spPr>
          <a:xfrm>
            <a:off x="4206240" y="2651760"/>
            <a:ext cx="1554480" cy="10058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Triage Queue</a:t>
            </a:r>
          </a:p>
        </p:txBody>
      </p:sp>
      <p:sp>
        <p:nvSpPr>
          <p:cNvPr id="16" name="TextBox 15"/>
          <p:cNvSpPr txBox="1"/>
          <p:nvPr/>
        </p:nvSpPr>
        <p:spPr>
          <a:xfrm>
            <a:off x="4251960" y="374904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Reviewer sees</a:t>
            </a:r>
            <a:br/>
            <a:r>
              <a:t>prioritized cases</a:t>
            </a:r>
          </a:p>
        </p:txBody>
      </p:sp>
      <p:sp>
        <p:nvSpPr>
          <p:cNvPr id="17" name="Right Arrow 16"/>
          <p:cNvSpPr/>
          <p:nvPr/>
        </p:nvSpPr>
        <p:spPr>
          <a:xfrm>
            <a:off x="5806440" y="2880360"/>
            <a:ext cx="27432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0" y="201168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4</a:t>
            </a:r>
          </a:p>
        </p:txBody>
      </p:sp>
      <p:sp>
        <p:nvSpPr>
          <p:cNvPr id="19" name="Rounded Rectangle 18"/>
          <p:cNvSpPr/>
          <p:nvPr/>
        </p:nvSpPr>
        <p:spPr>
          <a:xfrm>
            <a:off x="6126480" y="2651760"/>
            <a:ext cx="1554480" cy="100584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Case Review</a:t>
            </a:r>
          </a:p>
        </p:txBody>
      </p:sp>
      <p:sp>
        <p:nvSpPr>
          <p:cNvPr id="20" name="TextBox 19"/>
          <p:cNvSpPr txBox="1"/>
          <p:nvPr/>
        </p:nvSpPr>
        <p:spPr>
          <a:xfrm>
            <a:off x="6172200" y="374904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Transcript + audio +</a:t>
            </a:r>
            <a:br/>
            <a:r>
              <a:t>evidence in one view</a:t>
            </a:r>
          </a:p>
        </p:txBody>
      </p:sp>
      <p:sp>
        <p:nvSpPr>
          <p:cNvPr id="21" name="Right Arrow 20"/>
          <p:cNvSpPr/>
          <p:nvPr/>
        </p:nvSpPr>
        <p:spPr>
          <a:xfrm>
            <a:off x="7726680" y="2880360"/>
            <a:ext cx="27432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595360" y="2011680"/>
            <a:ext cx="457200" cy="4572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5</a:t>
            </a:r>
          </a:p>
        </p:txBody>
      </p:sp>
      <p:sp>
        <p:nvSpPr>
          <p:cNvPr id="23" name="Rounded Rectangle 22"/>
          <p:cNvSpPr/>
          <p:nvPr/>
        </p:nvSpPr>
        <p:spPr>
          <a:xfrm>
            <a:off x="8046720" y="2651760"/>
            <a:ext cx="1554480" cy="100584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Decision</a:t>
            </a:r>
          </a:p>
        </p:txBody>
      </p:sp>
      <p:sp>
        <p:nvSpPr>
          <p:cNvPr id="24" name="TextBox 23"/>
          <p:cNvSpPr txBox="1"/>
          <p:nvPr/>
        </p:nvSpPr>
        <p:spPr>
          <a:xfrm>
            <a:off x="8092440" y="374904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Confirm / Dismiss /</a:t>
            </a:r>
            <a:br/>
            <a:r>
              <a:t>Escalate</a:t>
            </a:r>
          </a:p>
        </p:txBody>
      </p:sp>
      <p:sp>
        <p:nvSpPr>
          <p:cNvPr id="25" name="Right Arrow 24"/>
          <p:cNvSpPr/>
          <p:nvPr/>
        </p:nvSpPr>
        <p:spPr>
          <a:xfrm>
            <a:off x="9646920" y="2880360"/>
            <a:ext cx="27432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515600" y="2011680"/>
            <a:ext cx="457200" cy="4572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6</a:t>
            </a:r>
          </a:p>
        </p:txBody>
      </p:sp>
      <p:sp>
        <p:nvSpPr>
          <p:cNvPr id="27" name="Rounded Rectangle 26"/>
          <p:cNvSpPr/>
          <p:nvPr/>
        </p:nvSpPr>
        <p:spPr>
          <a:xfrm>
            <a:off x="9966960" y="2651760"/>
            <a:ext cx="1554480" cy="10058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Audit Log</a:t>
            </a:r>
          </a:p>
        </p:txBody>
      </p:sp>
      <p:sp>
        <p:nvSpPr>
          <p:cNvPr id="28" name="TextBox 27"/>
          <p:cNvSpPr txBox="1"/>
          <p:nvPr/>
        </p:nvSpPr>
        <p:spPr>
          <a:xfrm>
            <a:off x="10012680" y="3749040"/>
            <a:ext cx="1463040" cy="73152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Immutable record of</a:t>
            </a:r>
            <a:br/>
            <a:r>
              <a:t>every action</a:t>
            </a:r>
          </a:p>
        </p:txBody>
      </p:sp>
      <p:sp>
        <p:nvSpPr>
          <p:cNvPr id="29" name="Rectangle 28"/>
          <p:cNvSpPr/>
          <p:nvPr/>
        </p:nvSpPr>
        <p:spPr>
          <a:xfrm>
            <a:off x="457200" y="4572000"/>
            <a:ext cx="1124712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754880"/>
            <a:ext cx="4572000" cy="365760"/>
          </a:xfrm>
          <a:prstGeom prst="rect">
            <a:avLst/>
          </a:prstGeom>
          <a:noFill/>
        </p:spPr>
        <p:txBody>
          <a:bodyPr wrap="square">
            <a:spAutoFit/>
          </a:bodyPr>
          <a:lstStyle/>
          <a:p>
            <a:pPr algn="l">
              <a:lnSpc>
                <a:spcPts val="2160"/>
              </a:lnSpc>
              <a:spcAft>
                <a:spcPts val="0"/>
              </a:spcAft>
              <a:defRPr sz="1800" b="1">
                <a:solidFill>
                  <a:srgbClr val="0F172A"/>
                </a:solidFill>
                <a:latin typeface="Calibri"/>
              </a:defRPr>
            </a:pPr>
            <a:r>
              <a:t>Core Product Surfaces</a:t>
            </a:r>
          </a:p>
        </p:txBody>
      </p:sp>
      <p:sp>
        <p:nvSpPr>
          <p:cNvPr id="31" name="Rounded Rectangle 30"/>
          <p:cNvSpPr/>
          <p:nvPr/>
        </p:nvSpPr>
        <p:spPr>
          <a:xfrm>
            <a:off x="731520" y="5212080"/>
            <a:ext cx="1828800" cy="3657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Triage Queue</a:t>
            </a:r>
          </a:p>
        </p:txBody>
      </p:sp>
      <p:sp>
        <p:nvSpPr>
          <p:cNvPr id="32" name="TextBox 31"/>
          <p:cNvSpPr txBox="1"/>
          <p:nvPr/>
        </p:nvSpPr>
        <p:spPr>
          <a:xfrm>
            <a:off x="2743200" y="5212080"/>
            <a:ext cx="3474720" cy="548640"/>
          </a:xfrm>
          <a:prstGeom prst="rect">
            <a:avLst/>
          </a:prstGeom>
          <a:noFill/>
        </p:spPr>
        <p:txBody>
          <a:bodyPr wrap="square">
            <a:spAutoFit/>
          </a:bodyPr>
          <a:lstStyle/>
          <a:p>
            <a:pPr algn="l">
              <a:lnSpc>
                <a:spcPts val="1320"/>
              </a:lnSpc>
              <a:spcAft>
                <a:spcPts val="0"/>
              </a:spcAft>
              <a:defRPr sz="1100" b="0">
                <a:solidFill>
                  <a:srgbClr val="6B7280"/>
                </a:solidFill>
                <a:latin typeface="Calibri"/>
              </a:defRPr>
            </a:pPr>
            <a:r>
              <a:t>Severity-prioritized case list with reviewer</a:t>
            </a:r>
            <a:br/>
            <a:r>
              <a:t>assignment, confidence scoring, and SLA countdown</a:t>
            </a:r>
          </a:p>
        </p:txBody>
      </p:sp>
      <p:sp>
        <p:nvSpPr>
          <p:cNvPr id="33" name="Rounded Rectangle 32"/>
          <p:cNvSpPr/>
          <p:nvPr/>
        </p:nvSpPr>
        <p:spPr>
          <a:xfrm>
            <a:off x="6400800" y="5212080"/>
            <a:ext cx="1828800" cy="3657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Case Detail View</a:t>
            </a:r>
          </a:p>
        </p:txBody>
      </p:sp>
      <p:sp>
        <p:nvSpPr>
          <p:cNvPr id="34" name="TextBox 33"/>
          <p:cNvSpPr txBox="1"/>
          <p:nvPr/>
        </p:nvSpPr>
        <p:spPr>
          <a:xfrm>
            <a:off x="8412480" y="5212080"/>
            <a:ext cx="3474720" cy="548640"/>
          </a:xfrm>
          <a:prstGeom prst="rect">
            <a:avLst/>
          </a:prstGeom>
          <a:noFill/>
        </p:spPr>
        <p:txBody>
          <a:bodyPr wrap="square">
            <a:spAutoFit/>
          </a:bodyPr>
          <a:lstStyle/>
          <a:p>
            <a:pPr algn="l">
              <a:lnSpc>
                <a:spcPts val="1320"/>
              </a:lnSpc>
              <a:spcAft>
                <a:spcPts val="0"/>
              </a:spcAft>
              <a:defRPr sz="1100" b="0">
                <a:solidFill>
                  <a:srgbClr val="6B7280"/>
                </a:solidFill>
                <a:latin typeface="Calibri"/>
              </a:defRPr>
            </a:pPr>
            <a:r>
              <a:t>Highlighted transcript with audio, pre-populated</a:t>
            </a:r>
            <a:br/>
            <a:r>
              <a:t>MedWatch fields, and confirm/dismiss/escalate actions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06</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From Contract to First Case Review</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Why pharma onboarding is different — and how we handle it</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828800"/>
            <a:ext cx="201168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Calibri"/>
              </a:defRPr>
            </a:pPr>
            <a:r>
              <a:t>Pre-Contract</a:t>
            </a:r>
            <a:br/>
            <a:r>
              <a:t>(2-4 wk)</a:t>
            </a:r>
          </a:p>
        </p:txBody>
      </p:sp>
      <p:sp>
        <p:nvSpPr>
          <p:cNvPr id="7" name="TextBox 6"/>
          <p:cNvSpPr txBox="1"/>
          <p:nvPr/>
        </p:nvSpPr>
        <p:spPr>
          <a:xfrm>
            <a:off x="548640" y="2606040"/>
            <a:ext cx="1828800" cy="914400"/>
          </a:xfrm>
          <a:prstGeom prst="rect">
            <a:avLst/>
          </a:prstGeom>
          <a:noFill/>
        </p:spPr>
        <p:txBody>
          <a:bodyPr wrap="square">
            <a:spAutoFit/>
          </a:bodyPr>
          <a:lstStyle/>
          <a:p>
            <a:pPr algn="ctr">
              <a:lnSpc>
                <a:spcPts val="1320"/>
              </a:lnSpc>
              <a:spcAft>
                <a:spcPts val="0"/>
              </a:spcAft>
              <a:defRPr sz="1100" b="0">
                <a:solidFill>
                  <a:srgbClr val="0F172A"/>
                </a:solidFill>
                <a:latin typeface="Calibri"/>
              </a:defRPr>
            </a:pPr>
            <a:r>
              <a:t>BAA/DPA, therapy</a:t>
            </a:r>
            <a:br/>
            <a:r>
              <a:t>scoping, success criteria</a:t>
            </a:r>
          </a:p>
        </p:txBody>
      </p:sp>
      <p:sp>
        <p:nvSpPr>
          <p:cNvPr id="8" name="TextBox 7"/>
          <p:cNvSpPr txBox="1"/>
          <p:nvPr/>
        </p:nvSpPr>
        <p:spPr>
          <a:xfrm>
            <a:off x="548640" y="3657600"/>
            <a:ext cx="1828800" cy="274320"/>
          </a:xfrm>
          <a:prstGeom prst="rect">
            <a:avLst/>
          </a:prstGeom>
          <a:noFill/>
        </p:spPr>
        <p:txBody>
          <a:bodyPr wrap="square">
            <a:spAutoFit/>
          </a:bodyPr>
          <a:lstStyle/>
          <a:p>
            <a:pPr algn="ctr">
              <a:lnSpc>
                <a:spcPts val="1200"/>
              </a:lnSpc>
              <a:spcAft>
                <a:spcPts val="0"/>
              </a:spcAft>
              <a:defRPr sz="1000" b="1">
                <a:solidFill>
                  <a:srgbClr val="0D9488"/>
                </a:solidFill>
                <a:latin typeface="Calibri"/>
              </a:defRPr>
            </a:pPr>
            <a:r>
              <a:t>Gate:</a:t>
            </a:r>
          </a:p>
        </p:txBody>
      </p:sp>
      <p:sp>
        <p:nvSpPr>
          <p:cNvPr id="9" name="TextBox 8"/>
          <p:cNvSpPr txBox="1"/>
          <p:nvPr/>
        </p:nvSpPr>
        <p:spPr>
          <a:xfrm>
            <a:off x="548640" y="3931920"/>
            <a:ext cx="1828800" cy="64008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Signed BAA/DPA</a:t>
            </a:r>
            <a:br/>
            <a:r>
              <a:t>+ agreed scope</a:t>
            </a:r>
          </a:p>
        </p:txBody>
      </p:sp>
      <p:sp>
        <p:nvSpPr>
          <p:cNvPr id="10" name="Right Arrow 9"/>
          <p:cNvSpPr/>
          <p:nvPr/>
        </p:nvSpPr>
        <p:spPr>
          <a:xfrm>
            <a:off x="2487168" y="2057400"/>
            <a:ext cx="228600" cy="18288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0" y="1828800"/>
            <a:ext cx="201168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Calibri"/>
              </a:defRPr>
            </a:pPr>
            <a:r>
              <a:t>Technical</a:t>
            </a:r>
            <a:br/>
            <a:r>
              <a:t>Setup</a:t>
            </a:r>
            <a:br/>
            <a:r>
              <a:t>(1-2 wk)</a:t>
            </a:r>
          </a:p>
        </p:txBody>
      </p:sp>
      <p:sp>
        <p:nvSpPr>
          <p:cNvPr id="12" name="TextBox 11"/>
          <p:cNvSpPr txBox="1"/>
          <p:nvPr/>
        </p:nvSpPr>
        <p:spPr>
          <a:xfrm>
            <a:off x="2834640" y="2606040"/>
            <a:ext cx="1828800" cy="914400"/>
          </a:xfrm>
          <a:prstGeom prst="rect">
            <a:avLst/>
          </a:prstGeom>
          <a:noFill/>
        </p:spPr>
        <p:txBody>
          <a:bodyPr wrap="square">
            <a:spAutoFit/>
          </a:bodyPr>
          <a:lstStyle/>
          <a:p>
            <a:pPr algn="ctr">
              <a:lnSpc>
                <a:spcPts val="1320"/>
              </a:lnSpc>
              <a:spcAft>
                <a:spcPts val="0"/>
              </a:spcAft>
              <a:defRPr sz="1100" b="0">
                <a:solidFill>
                  <a:srgbClr val="0F172A"/>
                </a:solidFill>
                <a:latin typeface="Calibri"/>
              </a:defRPr>
            </a:pPr>
            <a:r>
              <a:t>SSO, RBAC,</a:t>
            </a:r>
            <a:br/>
            <a:r>
              <a:t>pipeline validation</a:t>
            </a:r>
          </a:p>
        </p:txBody>
      </p:sp>
      <p:sp>
        <p:nvSpPr>
          <p:cNvPr id="13" name="TextBox 12"/>
          <p:cNvSpPr txBox="1"/>
          <p:nvPr/>
        </p:nvSpPr>
        <p:spPr>
          <a:xfrm>
            <a:off x="2834640" y="3657600"/>
            <a:ext cx="1828800" cy="274320"/>
          </a:xfrm>
          <a:prstGeom prst="rect">
            <a:avLst/>
          </a:prstGeom>
          <a:noFill/>
        </p:spPr>
        <p:txBody>
          <a:bodyPr wrap="square">
            <a:spAutoFit/>
          </a:bodyPr>
          <a:lstStyle/>
          <a:p>
            <a:pPr algn="ctr">
              <a:lnSpc>
                <a:spcPts val="1200"/>
              </a:lnSpc>
              <a:spcAft>
                <a:spcPts val="0"/>
              </a:spcAft>
              <a:defRPr sz="1000" b="1">
                <a:solidFill>
                  <a:srgbClr val="0D9488"/>
                </a:solidFill>
                <a:latin typeface="Calibri"/>
              </a:defRPr>
            </a:pPr>
            <a:r>
              <a:t>Gate:</a:t>
            </a:r>
          </a:p>
        </p:txBody>
      </p:sp>
      <p:sp>
        <p:nvSpPr>
          <p:cNvPr id="14" name="TextBox 13"/>
          <p:cNvSpPr txBox="1"/>
          <p:nvPr/>
        </p:nvSpPr>
        <p:spPr>
          <a:xfrm>
            <a:off x="2834640" y="3931920"/>
            <a:ext cx="1828800" cy="64008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Data flowing</a:t>
            </a:r>
            <a:br/>
            <a:r>
              <a:t>through pipeline</a:t>
            </a:r>
          </a:p>
        </p:txBody>
      </p:sp>
      <p:sp>
        <p:nvSpPr>
          <p:cNvPr id="15" name="Right Arrow 14"/>
          <p:cNvSpPr/>
          <p:nvPr/>
        </p:nvSpPr>
        <p:spPr>
          <a:xfrm>
            <a:off x="4773168" y="2057400"/>
            <a:ext cx="228600" cy="18288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0" y="1828800"/>
            <a:ext cx="201168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Calibri"/>
              </a:defRPr>
            </a:pPr>
            <a:r>
              <a:t>Calibration</a:t>
            </a:r>
            <a:br/>
            <a:r>
              <a:t>(2-3 wk)</a:t>
            </a:r>
          </a:p>
        </p:txBody>
      </p:sp>
      <p:sp>
        <p:nvSpPr>
          <p:cNvPr id="17" name="TextBox 16"/>
          <p:cNvSpPr txBox="1"/>
          <p:nvPr/>
        </p:nvSpPr>
        <p:spPr>
          <a:xfrm>
            <a:off x="5120640" y="2606040"/>
            <a:ext cx="1828800" cy="914400"/>
          </a:xfrm>
          <a:prstGeom prst="rect">
            <a:avLst/>
          </a:prstGeom>
          <a:noFill/>
        </p:spPr>
        <p:txBody>
          <a:bodyPr wrap="square">
            <a:spAutoFit/>
          </a:bodyPr>
          <a:lstStyle/>
          <a:p>
            <a:pPr algn="ctr">
              <a:lnSpc>
                <a:spcPts val="1320"/>
              </a:lnSpc>
              <a:spcAft>
                <a:spcPts val="0"/>
              </a:spcAft>
              <a:defRPr sz="1100" b="0">
                <a:solidFill>
                  <a:srgbClr val="0F172A"/>
                </a:solidFill>
                <a:latin typeface="Calibri"/>
              </a:defRPr>
            </a:pPr>
            <a:r>
              <a:t>Model tuning on</a:t>
            </a:r>
            <a:br/>
            <a:r>
              <a:t>customer data</a:t>
            </a:r>
          </a:p>
        </p:txBody>
      </p:sp>
      <p:sp>
        <p:nvSpPr>
          <p:cNvPr id="18" name="TextBox 17"/>
          <p:cNvSpPr txBox="1"/>
          <p:nvPr/>
        </p:nvSpPr>
        <p:spPr>
          <a:xfrm>
            <a:off x="5120640" y="3657600"/>
            <a:ext cx="1828800" cy="274320"/>
          </a:xfrm>
          <a:prstGeom prst="rect">
            <a:avLst/>
          </a:prstGeom>
          <a:noFill/>
        </p:spPr>
        <p:txBody>
          <a:bodyPr wrap="square">
            <a:spAutoFit/>
          </a:bodyPr>
          <a:lstStyle/>
          <a:p>
            <a:pPr algn="ctr">
              <a:lnSpc>
                <a:spcPts val="1200"/>
              </a:lnSpc>
              <a:spcAft>
                <a:spcPts val="0"/>
              </a:spcAft>
              <a:defRPr sz="1000" b="1">
                <a:solidFill>
                  <a:srgbClr val="0D9488"/>
                </a:solidFill>
                <a:latin typeface="Calibri"/>
              </a:defRPr>
            </a:pPr>
            <a:r>
              <a:t>Gate:</a:t>
            </a:r>
          </a:p>
        </p:txBody>
      </p:sp>
      <p:sp>
        <p:nvSpPr>
          <p:cNvPr id="19" name="TextBox 18"/>
          <p:cNvSpPr txBox="1"/>
          <p:nvPr/>
        </p:nvSpPr>
        <p:spPr>
          <a:xfrm>
            <a:off x="5120640" y="3931920"/>
            <a:ext cx="1828800" cy="64008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Recall &gt;= 95%</a:t>
            </a:r>
            <a:br/>
            <a:r>
              <a:t>on customer data</a:t>
            </a:r>
          </a:p>
        </p:txBody>
      </p:sp>
      <p:sp>
        <p:nvSpPr>
          <p:cNvPr id="20" name="Right Arrow 19"/>
          <p:cNvSpPr/>
          <p:nvPr/>
        </p:nvSpPr>
        <p:spPr>
          <a:xfrm>
            <a:off x="7059168" y="2057400"/>
            <a:ext cx="228600" cy="18288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1828800"/>
            <a:ext cx="201168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Calibri"/>
              </a:defRPr>
            </a:pPr>
            <a:r>
              <a:t>Soft Launch</a:t>
            </a:r>
            <a:br/>
            <a:r>
              <a:t>(1-2 wk)</a:t>
            </a:r>
          </a:p>
        </p:txBody>
      </p:sp>
      <p:sp>
        <p:nvSpPr>
          <p:cNvPr id="22" name="TextBox 21"/>
          <p:cNvSpPr txBox="1"/>
          <p:nvPr/>
        </p:nvSpPr>
        <p:spPr>
          <a:xfrm>
            <a:off x="7406640" y="2606040"/>
            <a:ext cx="1828800" cy="914400"/>
          </a:xfrm>
          <a:prstGeom prst="rect">
            <a:avLst/>
          </a:prstGeom>
          <a:noFill/>
        </p:spPr>
        <p:txBody>
          <a:bodyPr wrap="square">
            <a:spAutoFit/>
          </a:bodyPr>
          <a:lstStyle/>
          <a:p>
            <a:pPr algn="ctr">
              <a:lnSpc>
                <a:spcPts val="1320"/>
              </a:lnSpc>
              <a:spcAft>
                <a:spcPts val="0"/>
              </a:spcAft>
              <a:defRPr sz="1100" b="0">
                <a:solidFill>
                  <a:srgbClr val="0F172A"/>
                </a:solidFill>
                <a:latin typeface="Calibri"/>
              </a:defRPr>
            </a:pPr>
            <a:r>
              <a:t>Production dry-run,</a:t>
            </a:r>
            <a:br/>
            <a:r>
              <a:t>reviewer training</a:t>
            </a:r>
          </a:p>
        </p:txBody>
      </p:sp>
      <p:sp>
        <p:nvSpPr>
          <p:cNvPr id="23" name="TextBox 22"/>
          <p:cNvSpPr txBox="1"/>
          <p:nvPr/>
        </p:nvSpPr>
        <p:spPr>
          <a:xfrm>
            <a:off x="7406640" y="3657600"/>
            <a:ext cx="1828800" cy="274320"/>
          </a:xfrm>
          <a:prstGeom prst="rect">
            <a:avLst/>
          </a:prstGeom>
          <a:noFill/>
        </p:spPr>
        <p:txBody>
          <a:bodyPr wrap="square">
            <a:spAutoFit/>
          </a:bodyPr>
          <a:lstStyle/>
          <a:p>
            <a:pPr algn="ctr">
              <a:lnSpc>
                <a:spcPts val="1200"/>
              </a:lnSpc>
              <a:spcAft>
                <a:spcPts val="0"/>
              </a:spcAft>
              <a:defRPr sz="1000" b="1">
                <a:solidFill>
                  <a:srgbClr val="0D9488"/>
                </a:solidFill>
                <a:latin typeface="Calibri"/>
              </a:defRPr>
            </a:pPr>
            <a:r>
              <a:t>Gate:</a:t>
            </a:r>
          </a:p>
        </p:txBody>
      </p:sp>
      <p:sp>
        <p:nvSpPr>
          <p:cNvPr id="24" name="TextBox 23"/>
          <p:cNvSpPr txBox="1"/>
          <p:nvPr/>
        </p:nvSpPr>
        <p:spPr>
          <a:xfrm>
            <a:off x="7406640" y="3931920"/>
            <a:ext cx="1828800" cy="640080"/>
          </a:xfrm>
          <a:prstGeom prst="rect">
            <a:avLst/>
          </a:prstGeom>
          <a:noFill/>
        </p:spPr>
        <p:txBody>
          <a:bodyPr wrap="square">
            <a:spAutoFit/>
          </a:bodyPr>
          <a:lstStyle/>
          <a:p>
            <a:pPr algn="ctr">
              <a:lnSpc>
                <a:spcPts val="1200"/>
              </a:lnSpc>
              <a:spcAft>
                <a:spcPts val="0"/>
              </a:spcAft>
              <a:defRPr sz="1000" b="0">
                <a:solidFill>
                  <a:srgbClr val="6B7280"/>
                </a:solidFill>
                <a:latin typeface="Calibri"/>
              </a:defRPr>
            </a:pPr>
            <a:r>
              <a:t>Reviewers working</a:t>
            </a:r>
            <a:br/>
            <a:r>
              <a:t>independently</a:t>
            </a:r>
          </a:p>
        </p:txBody>
      </p:sp>
      <p:sp>
        <p:nvSpPr>
          <p:cNvPr id="25" name="Right Arrow 24"/>
          <p:cNvSpPr/>
          <p:nvPr/>
        </p:nvSpPr>
        <p:spPr>
          <a:xfrm>
            <a:off x="9345168" y="2057400"/>
            <a:ext cx="228600" cy="18288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01200" y="1828800"/>
            <a:ext cx="201168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Calibri"/>
              </a:defRPr>
            </a:pPr>
            <a:r>
              <a:t>Steady</a:t>
            </a:r>
            <a:br/>
            <a:r>
              <a:t>State</a:t>
            </a:r>
            <a:br/>
            <a:r>
              <a:t>(Ongoing)</a:t>
            </a:r>
          </a:p>
        </p:txBody>
      </p:sp>
      <p:sp>
        <p:nvSpPr>
          <p:cNvPr id="27" name="TextBox 26"/>
          <p:cNvSpPr txBox="1"/>
          <p:nvPr/>
        </p:nvSpPr>
        <p:spPr>
          <a:xfrm>
            <a:off x="9692640" y="2606040"/>
            <a:ext cx="1828800" cy="914400"/>
          </a:xfrm>
          <a:prstGeom prst="rect">
            <a:avLst/>
          </a:prstGeom>
          <a:noFill/>
        </p:spPr>
        <p:txBody>
          <a:bodyPr wrap="square">
            <a:spAutoFit/>
          </a:bodyPr>
          <a:lstStyle/>
          <a:p>
            <a:pPr algn="ctr">
              <a:lnSpc>
                <a:spcPts val="1320"/>
              </a:lnSpc>
              <a:spcAft>
                <a:spcPts val="0"/>
              </a:spcAft>
              <a:defRPr sz="1100" b="0">
                <a:solidFill>
                  <a:srgbClr val="0F172A"/>
                </a:solidFill>
                <a:latin typeface="Calibri"/>
              </a:defRPr>
            </a:pPr>
            <a:r>
              <a:t>Governance cadence,</a:t>
            </a:r>
            <a:br/>
            <a:r>
              <a:t>model reviews</a:t>
            </a:r>
          </a:p>
        </p:txBody>
      </p:sp>
      <p:sp>
        <p:nvSpPr>
          <p:cNvPr id="28" name="Rounded Rectangle 27"/>
          <p:cNvSpPr/>
          <p:nvPr/>
        </p:nvSpPr>
        <p:spPr>
          <a:xfrm>
            <a:off x="1828800" y="5029200"/>
            <a:ext cx="8503920" cy="109728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0">
                <a:solidFill>
                  <a:srgbClr val="0F172A"/>
                </a:solidFill>
                <a:latin typeface="Calibri"/>
              </a:defRPr>
            </a:pPr>
            <a:r>
              <a:t>First Value Moment: "Yes, this is a real signal I would have missed"</a:t>
            </a:r>
            <a:br/>
            <a:r>
              <a:t>Target: within 5-7 weeks of contract signature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06</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90-Day Pilot Plan</a:t>
            </a:r>
          </a:p>
        </p:txBody>
      </p:sp>
      <p:sp>
        <p:nvSpPr>
          <p:cNvPr id="4" name="Rectangle 3"/>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920240" cy="822960"/>
          </a:xfrm>
          <a:prstGeom prst="rect">
            <a:avLst/>
          </a:prstGeom>
          <a:noFill/>
        </p:spPr>
        <p:txBody>
          <a:bodyPr wrap="square">
            <a:spAutoFit/>
          </a:bodyPr>
          <a:lstStyle/>
          <a:p>
            <a:pPr algn="ctr">
              <a:lnSpc>
                <a:spcPts val="4320"/>
              </a:lnSpc>
              <a:spcAft>
                <a:spcPts val="0"/>
              </a:spcAft>
              <a:defRPr sz="3600" b="1">
                <a:solidFill>
                  <a:srgbClr val="0D9488"/>
                </a:solidFill>
                <a:latin typeface="Calibri"/>
              </a:defRPr>
            </a:pPr>
            <a:r>
              <a:t>4 weeks</a:t>
            </a:r>
          </a:p>
        </p:txBody>
      </p:sp>
      <p:sp>
        <p:nvSpPr>
          <p:cNvPr id="7" name="TextBox 6"/>
          <p:cNvSpPr txBox="1"/>
          <p:nvPr/>
        </p:nvSpPr>
        <p:spPr>
          <a:xfrm>
            <a:off x="914400" y="26517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Live Pilot</a:t>
            </a:r>
          </a:p>
        </p:txBody>
      </p:sp>
      <p:sp>
        <p:nvSpPr>
          <p:cNvPr id="8" name="Rounded Rectangle 7"/>
          <p:cNvSpPr/>
          <p:nvPr/>
        </p:nvSpPr>
        <p:spPr>
          <a:xfrm>
            <a:off x="3566160" y="15544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0" y="1828800"/>
            <a:ext cx="1920240" cy="822960"/>
          </a:xfrm>
          <a:prstGeom prst="rect">
            <a:avLst/>
          </a:prstGeom>
          <a:noFill/>
        </p:spPr>
        <p:txBody>
          <a:bodyPr wrap="square">
            <a:spAutoFit/>
          </a:bodyPr>
          <a:lstStyle/>
          <a:p>
            <a:pPr algn="ctr">
              <a:lnSpc>
                <a:spcPts val="4320"/>
              </a:lnSpc>
              <a:spcAft>
                <a:spcPts val="0"/>
              </a:spcAft>
              <a:defRPr sz="3600" b="1">
                <a:solidFill>
                  <a:srgbClr val="0D9488"/>
                </a:solidFill>
                <a:latin typeface="Calibri"/>
              </a:defRPr>
            </a:pPr>
            <a:r>
              <a:t>2 partners</a:t>
            </a:r>
          </a:p>
        </p:txBody>
      </p:sp>
      <p:sp>
        <p:nvSpPr>
          <p:cNvPr id="10" name="TextBox 9"/>
          <p:cNvSpPr txBox="1"/>
          <p:nvPr/>
        </p:nvSpPr>
        <p:spPr>
          <a:xfrm>
            <a:off x="3749040" y="26517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Existing Customers</a:t>
            </a:r>
          </a:p>
        </p:txBody>
      </p:sp>
      <p:sp>
        <p:nvSpPr>
          <p:cNvPr id="11" name="Rounded Rectangle 10"/>
          <p:cNvSpPr/>
          <p:nvPr/>
        </p:nvSpPr>
        <p:spPr>
          <a:xfrm>
            <a:off x="6400800" y="15544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828800"/>
            <a:ext cx="1920240" cy="822960"/>
          </a:xfrm>
          <a:prstGeom prst="rect">
            <a:avLst/>
          </a:prstGeom>
          <a:noFill/>
        </p:spPr>
        <p:txBody>
          <a:bodyPr wrap="square">
            <a:spAutoFit/>
          </a:bodyPr>
          <a:lstStyle/>
          <a:p>
            <a:pPr algn="ctr">
              <a:lnSpc>
                <a:spcPts val="4320"/>
              </a:lnSpc>
              <a:spcAft>
                <a:spcPts val="0"/>
              </a:spcAft>
              <a:defRPr sz="3600" b="1">
                <a:solidFill>
                  <a:srgbClr val="0D9488"/>
                </a:solidFill>
                <a:latin typeface="Calibri"/>
              </a:defRPr>
            </a:pPr>
            <a:r>
              <a:t>~3,000/wk</a:t>
            </a:r>
          </a:p>
        </p:txBody>
      </p:sp>
      <p:sp>
        <p:nvSpPr>
          <p:cNvPr id="13" name="TextBox 12"/>
          <p:cNvSpPr txBox="1"/>
          <p:nvPr/>
        </p:nvSpPr>
        <p:spPr>
          <a:xfrm>
            <a:off x="6583680" y="26517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Conversations Each</a:t>
            </a:r>
          </a:p>
        </p:txBody>
      </p:sp>
      <p:sp>
        <p:nvSpPr>
          <p:cNvPr id="14" name="Rounded Rectangle 13"/>
          <p:cNvSpPr/>
          <p:nvPr/>
        </p:nvSpPr>
        <p:spPr>
          <a:xfrm>
            <a:off x="9235440" y="1554480"/>
            <a:ext cx="2286000" cy="1828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0" y="1828800"/>
            <a:ext cx="1920240" cy="822960"/>
          </a:xfrm>
          <a:prstGeom prst="rect">
            <a:avLst/>
          </a:prstGeom>
          <a:noFill/>
        </p:spPr>
        <p:txBody>
          <a:bodyPr wrap="square">
            <a:spAutoFit/>
          </a:bodyPr>
          <a:lstStyle/>
          <a:p>
            <a:pPr algn="ctr">
              <a:lnSpc>
                <a:spcPts val="4320"/>
              </a:lnSpc>
              <a:spcAft>
                <a:spcPts val="0"/>
              </a:spcAft>
              <a:defRPr sz="3600" b="1">
                <a:solidFill>
                  <a:srgbClr val="0D9488"/>
                </a:solidFill>
                <a:latin typeface="Calibri"/>
              </a:defRPr>
            </a:pPr>
            <a:r>
              <a:t>2 analysts</a:t>
            </a:r>
          </a:p>
        </p:txBody>
      </p:sp>
      <p:sp>
        <p:nvSpPr>
          <p:cNvPr id="16" name="TextBox 15"/>
          <p:cNvSpPr txBox="1"/>
          <p:nvPr/>
        </p:nvSpPr>
        <p:spPr>
          <a:xfrm>
            <a:off x="9418320" y="2651760"/>
            <a:ext cx="1920240" cy="548640"/>
          </a:xfrm>
          <a:prstGeom prst="rect">
            <a:avLst/>
          </a:prstGeom>
          <a:noFill/>
        </p:spPr>
        <p:txBody>
          <a:bodyPr wrap="square">
            <a:spAutoFit/>
          </a:bodyPr>
          <a:lstStyle/>
          <a:p>
            <a:pPr algn="ctr">
              <a:lnSpc>
                <a:spcPts val="1560"/>
              </a:lnSpc>
              <a:spcAft>
                <a:spcPts val="0"/>
              </a:spcAft>
              <a:defRPr sz="1300" b="0">
                <a:solidFill>
                  <a:srgbClr val="6B7280"/>
                </a:solidFill>
                <a:latin typeface="Calibri"/>
              </a:defRPr>
            </a:pPr>
            <a:r>
              <a:t>Per Partner</a:t>
            </a:r>
          </a:p>
        </p:txBody>
      </p:sp>
      <p:sp>
        <p:nvSpPr>
          <p:cNvPr id="17" name="TextBox 16"/>
          <p:cNvSpPr txBox="1"/>
          <p:nvPr/>
        </p:nvSpPr>
        <p:spPr>
          <a:xfrm>
            <a:off x="137160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W1</a:t>
            </a:r>
          </a:p>
        </p:txBody>
      </p:sp>
      <p:sp>
        <p:nvSpPr>
          <p:cNvPr id="18" name="TextBox 17"/>
          <p:cNvSpPr txBox="1"/>
          <p:nvPr/>
        </p:nvSpPr>
        <p:spPr>
          <a:xfrm>
            <a:off x="214884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W2</a:t>
            </a:r>
          </a:p>
        </p:txBody>
      </p:sp>
      <p:sp>
        <p:nvSpPr>
          <p:cNvPr id="19" name="TextBox 18"/>
          <p:cNvSpPr txBox="1"/>
          <p:nvPr/>
        </p:nvSpPr>
        <p:spPr>
          <a:xfrm>
            <a:off x="292608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W3</a:t>
            </a:r>
          </a:p>
        </p:txBody>
      </p:sp>
      <p:sp>
        <p:nvSpPr>
          <p:cNvPr id="20" name="TextBox 19"/>
          <p:cNvSpPr txBox="1"/>
          <p:nvPr/>
        </p:nvSpPr>
        <p:spPr>
          <a:xfrm>
            <a:off x="370332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W4</a:t>
            </a:r>
          </a:p>
        </p:txBody>
      </p:sp>
      <p:sp>
        <p:nvSpPr>
          <p:cNvPr id="21" name="TextBox 20"/>
          <p:cNvSpPr txBox="1"/>
          <p:nvPr/>
        </p:nvSpPr>
        <p:spPr>
          <a:xfrm>
            <a:off x="448056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W5</a:t>
            </a:r>
          </a:p>
        </p:txBody>
      </p:sp>
      <p:sp>
        <p:nvSpPr>
          <p:cNvPr id="22" name="TextBox 21"/>
          <p:cNvSpPr txBox="1"/>
          <p:nvPr/>
        </p:nvSpPr>
        <p:spPr>
          <a:xfrm>
            <a:off x="525780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W6</a:t>
            </a:r>
          </a:p>
        </p:txBody>
      </p:sp>
      <p:sp>
        <p:nvSpPr>
          <p:cNvPr id="23" name="TextBox 22"/>
          <p:cNvSpPr txBox="1"/>
          <p:nvPr/>
        </p:nvSpPr>
        <p:spPr>
          <a:xfrm>
            <a:off x="603504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W7</a:t>
            </a:r>
          </a:p>
        </p:txBody>
      </p:sp>
      <p:sp>
        <p:nvSpPr>
          <p:cNvPr id="24" name="TextBox 23"/>
          <p:cNvSpPr txBox="1"/>
          <p:nvPr/>
        </p:nvSpPr>
        <p:spPr>
          <a:xfrm>
            <a:off x="681228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W8</a:t>
            </a:r>
          </a:p>
        </p:txBody>
      </p:sp>
      <p:sp>
        <p:nvSpPr>
          <p:cNvPr id="25" name="TextBox 24"/>
          <p:cNvSpPr txBox="1"/>
          <p:nvPr/>
        </p:nvSpPr>
        <p:spPr>
          <a:xfrm>
            <a:off x="758952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W9</a:t>
            </a:r>
          </a:p>
        </p:txBody>
      </p:sp>
      <p:sp>
        <p:nvSpPr>
          <p:cNvPr id="26" name="TextBox 25"/>
          <p:cNvSpPr txBox="1"/>
          <p:nvPr/>
        </p:nvSpPr>
        <p:spPr>
          <a:xfrm>
            <a:off x="836676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W10</a:t>
            </a:r>
          </a:p>
        </p:txBody>
      </p:sp>
      <p:sp>
        <p:nvSpPr>
          <p:cNvPr id="27" name="TextBox 26"/>
          <p:cNvSpPr txBox="1"/>
          <p:nvPr/>
        </p:nvSpPr>
        <p:spPr>
          <a:xfrm>
            <a:off x="914400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W11</a:t>
            </a:r>
          </a:p>
        </p:txBody>
      </p:sp>
      <p:sp>
        <p:nvSpPr>
          <p:cNvPr id="28" name="TextBox 27"/>
          <p:cNvSpPr txBox="1"/>
          <p:nvPr/>
        </p:nvSpPr>
        <p:spPr>
          <a:xfrm>
            <a:off x="9921240" y="3611880"/>
            <a:ext cx="777240" cy="274320"/>
          </a:xfrm>
          <a:prstGeom prst="rect">
            <a:avLst/>
          </a:prstGeom>
          <a:noFill/>
        </p:spPr>
        <p:txBody>
          <a:bodyPr wrap="square">
            <a:spAutoFit/>
          </a:bodyPr>
          <a:lstStyle/>
          <a:p>
            <a:pPr algn="ctr">
              <a:lnSpc>
                <a:spcPts val="1080"/>
              </a:lnSpc>
              <a:spcAft>
                <a:spcPts val="0"/>
              </a:spcAft>
              <a:defRPr sz="900" b="0">
                <a:solidFill>
                  <a:srgbClr val="6B7280"/>
                </a:solidFill>
                <a:latin typeface="Calibri"/>
              </a:defRPr>
            </a:pPr>
            <a:r>
              <a:t>W12</a:t>
            </a:r>
          </a:p>
        </p:txBody>
      </p:sp>
      <p:sp>
        <p:nvSpPr>
          <p:cNvPr id="29" name="TextBox 28"/>
          <p:cNvSpPr txBox="1"/>
          <p:nvPr/>
        </p:nvSpPr>
        <p:spPr>
          <a:xfrm>
            <a:off x="182880" y="3950208"/>
            <a:ext cx="1188720" cy="320040"/>
          </a:xfrm>
          <a:prstGeom prst="rect">
            <a:avLst/>
          </a:prstGeom>
          <a:noFill/>
        </p:spPr>
        <p:txBody>
          <a:bodyPr wrap="square">
            <a:spAutoFit/>
          </a:bodyPr>
          <a:lstStyle/>
          <a:p>
            <a:pPr algn="r">
              <a:lnSpc>
                <a:spcPts val="1320"/>
              </a:lnSpc>
              <a:spcAft>
                <a:spcPts val="0"/>
              </a:spcAft>
              <a:defRPr sz="1100" b="1">
                <a:solidFill>
                  <a:srgbClr val="0F172A"/>
                </a:solidFill>
                <a:latin typeface="Calibri"/>
              </a:defRPr>
            </a:pPr>
            <a:r>
              <a:t>Discovery &amp; UX</a:t>
            </a:r>
          </a:p>
        </p:txBody>
      </p:sp>
      <p:sp>
        <p:nvSpPr>
          <p:cNvPr id="30" name="Rounded Rectangle 29"/>
          <p:cNvSpPr/>
          <p:nvPr/>
        </p:nvSpPr>
        <p:spPr>
          <a:xfrm>
            <a:off x="1371600" y="3931920"/>
            <a:ext cx="310896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Weeks 1-4</a:t>
            </a:r>
          </a:p>
        </p:txBody>
      </p:sp>
      <p:sp>
        <p:nvSpPr>
          <p:cNvPr id="31" name="TextBox 30"/>
          <p:cNvSpPr txBox="1"/>
          <p:nvPr/>
        </p:nvSpPr>
        <p:spPr>
          <a:xfrm>
            <a:off x="182880" y="4453128"/>
            <a:ext cx="1188720" cy="320040"/>
          </a:xfrm>
          <a:prstGeom prst="rect">
            <a:avLst/>
          </a:prstGeom>
          <a:noFill/>
        </p:spPr>
        <p:txBody>
          <a:bodyPr wrap="square">
            <a:spAutoFit/>
          </a:bodyPr>
          <a:lstStyle/>
          <a:p>
            <a:pPr algn="r">
              <a:lnSpc>
                <a:spcPts val="1320"/>
              </a:lnSpc>
              <a:spcAft>
                <a:spcPts val="0"/>
              </a:spcAft>
              <a:defRPr sz="1100" b="1">
                <a:solidFill>
                  <a:srgbClr val="0F172A"/>
                </a:solidFill>
                <a:latin typeface="Calibri"/>
              </a:defRPr>
            </a:pPr>
            <a:r>
              <a:t>Engineering</a:t>
            </a:r>
          </a:p>
        </p:txBody>
      </p:sp>
      <p:sp>
        <p:nvSpPr>
          <p:cNvPr id="32" name="Rounded Rectangle 31"/>
          <p:cNvSpPr/>
          <p:nvPr/>
        </p:nvSpPr>
        <p:spPr>
          <a:xfrm>
            <a:off x="1371600" y="4434840"/>
            <a:ext cx="6995160" cy="3657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Weeks 1-9</a:t>
            </a:r>
          </a:p>
        </p:txBody>
      </p:sp>
      <p:sp>
        <p:nvSpPr>
          <p:cNvPr id="33" name="TextBox 32"/>
          <p:cNvSpPr txBox="1"/>
          <p:nvPr/>
        </p:nvSpPr>
        <p:spPr>
          <a:xfrm>
            <a:off x="182880" y="4956048"/>
            <a:ext cx="1188720" cy="320040"/>
          </a:xfrm>
          <a:prstGeom prst="rect">
            <a:avLst/>
          </a:prstGeom>
          <a:noFill/>
        </p:spPr>
        <p:txBody>
          <a:bodyPr wrap="square">
            <a:spAutoFit/>
          </a:bodyPr>
          <a:lstStyle/>
          <a:p>
            <a:pPr algn="r">
              <a:lnSpc>
                <a:spcPts val="1320"/>
              </a:lnSpc>
              <a:spcAft>
                <a:spcPts val="0"/>
              </a:spcAft>
              <a:defRPr sz="1100" b="1">
                <a:solidFill>
                  <a:srgbClr val="0F172A"/>
                </a:solidFill>
                <a:latin typeface="Calibri"/>
              </a:defRPr>
            </a:pPr>
            <a:r>
              <a:t>Legal &amp; Compliance</a:t>
            </a:r>
          </a:p>
        </p:txBody>
      </p:sp>
      <p:sp>
        <p:nvSpPr>
          <p:cNvPr id="34" name="Rounded Rectangle 33"/>
          <p:cNvSpPr/>
          <p:nvPr/>
        </p:nvSpPr>
        <p:spPr>
          <a:xfrm>
            <a:off x="3703320" y="4937760"/>
            <a:ext cx="1554480" cy="3657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Weeks 4-5</a:t>
            </a:r>
          </a:p>
        </p:txBody>
      </p:sp>
      <p:sp>
        <p:nvSpPr>
          <p:cNvPr id="35" name="TextBox 34"/>
          <p:cNvSpPr txBox="1"/>
          <p:nvPr/>
        </p:nvSpPr>
        <p:spPr>
          <a:xfrm>
            <a:off x="182880" y="5458968"/>
            <a:ext cx="1188720" cy="320040"/>
          </a:xfrm>
          <a:prstGeom prst="rect">
            <a:avLst/>
          </a:prstGeom>
          <a:noFill/>
        </p:spPr>
        <p:txBody>
          <a:bodyPr wrap="square">
            <a:spAutoFit/>
          </a:bodyPr>
          <a:lstStyle/>
          <a:p>
            <a:pPr algn="r">
              <a:lnSpc>
                <a:spcPts val="1320"/>
              </a:lnSpc>
              <a:spcAft>
                <a:spcPts val="0"/>
              </a:spcAft>
              <a:defRPr sz="1100" b="1">
                <a:solidFill>
                  <a:srgbClr val="0F172A"/>
                </a:solidFill>
                <a:latin typeface="Calibri"/>
              </a:defRPr>
            </a:pPr>
            <a:r>
              <a:t>Pilot Operations</a:t>
            </a:r>
          </a:p>
        </p:txBody>
      </p:sp>
      <p:sp>
        <p:nvSpPr>
          <p:cNvPr id="36" name="Rounded Rectangle 35"/>
          <p:cNvSpPr/>
          <p:nvPr/>
        </p:nvSpPr>
        <p:spPr>
          <a:xfrm>
            <a:off x="6035040" y="5440680"/>
            <a:ext cx="4663440" cy="3657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Weeks 7-12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06</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How We'll Know It's Working</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Three-tier scorecard — safety gates, quality targets, business signals</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3474720" cy="6400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SAFETY</a:t>
            </a:r>
            <a:br/>
            <a:r>
              <a:t>Non-Negotiable Gates</a:t>
            </a:r>
          </a:p>
        </p:txBody>
      </p:sp>
      <p:sp>
        <p:nvSpPr>
          <p:cNvPr id="7" name="Rounded Rectangle 6"/>
          <p:cNvSpPr/>
          <p:nvPr/>
        </p:nvSpPr>
        <p:spPr>
          <a:xfrm>
            <a:off x="548640" y="246888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1460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AE Recall</a:t>
            </a:r>
          </a:p>
        </p:txBody>
      </p:sp>
      <p:sp>
        <p:nvSpPr>
          <p:cNvPr id="9" name="TextBox 8"/>
          <p:cNvSpPr txBox="1"/>
          <p:nvPr/>
        </p:nvSpPr>
        <p:spPr>
          <a:xfrm>
            <a:off x="685800" y="2816352"/>
            <a:ext cx="1828800" cy="320040"/>
          </a:xfrm>
          <a:prstGeom prst="rect">
            <a:avLst/>
          </a:prstGeom>
          <a:noFill/>
        </p:spPr>
        <p:txBody>
          <a:bodyPr wrap="square">
            <a:spAutoFit/>
          </a:bodyPr>
          <a:lstStyle/>
          <a:p>
            <a:pPr algn="l">
              <a:lnSpc>
                <a:spcPts val="1680"/>
              </a:lnSpc>
              <a:spcAft>
                <a:spcPts val="0"/>
              </a:spcAft>
              <a:defRPr sz="1400" b="1">
                <a:solidFill>
                  <a:srgbClr val="DC2626"/>
                </a:solidFill>
                <a:latin typeface="Calibri"/>
              </a:defRPr>
            </a:pPr>
            <a:r>
              <a:t>&gt;= 97%</a:t>
            </a:r>
          </a:p>
        </p:txBody>
      </p:sp>
      <p:sp>
        <p:nvSpPr>
          <p:cNvPr id="10" name="Rounded Rectangle 9"/>
          <p:cNvSpPr/>
          <p:nvPr/>
        </p:nvSpPr>
        <p:spPr>
          <a:xfrm>
            <a:off x="548640" y="329184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33756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Reporting</a:t>
            </a:r>
          </a:p>
        </p:txBody>
      </p:sp>
      <p:sp>
        <p:nvSpPr>
          <p:cNvPr id="12" name="TextBox 11"/>
          <p:cNvSpPr txBox="1"/>
          <p:nvPr/>
        </p:nvSpPr>
        <p:spPr>
          <a:xfrm>
            <a:off x="685800" y="3639312"/>
            <a:ext cx="1828800" cy="320040"/>
          </a:xfrm>
          <a:prstGeom prst="rect">
            <a:avLst/>
          </a:prstGeom>
          <a:noFill/>
        </p:spPr>
        <p:txBody>
          <a:bodyPr wrap="square">
            <a:spAutoFit/>
          </a:bodyPr>
          <a:lstStyle/>
          <a:p>
            <a:pPr algn="l">
              <a:lnSpc>
                <a:spcPts val="1680"/>
              </a:lnSpc>
              <a:spcAft>
                <a:spcPts val="0"/>
              </a:spcAft>
              <a:defRPr sz="1400" b="1">
                <a:solidFill>
                  <a:srgbClr val="DC2626"/>
                </a:solidFill>
                <a:latin typeface="Calibri"/>
              </a:defRPr>
            </a:pPr>
            <a:r>
              <a:t>100% in FDA windows</a:t>
            </a:r>
          </a:p>
        </p:txBody>
      </p:sp>
      <p:sp>
        <p:nvSpPr>
          <p:cNvPr id="13" name="Rounded Rectangle 12"/>
          <p:cNvSpPr/>
          <p:nvPr/>
        </p:nvSpPr>
        <p:spPr>
          <a:xfrm>
            <a:off x="548640" y="411480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16052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Coverage</a:t>
            </a:r>
          </a:p>
        </p:txBody>
      </p:sp>
      <p:sp>
        <p:nvSpPr>
          <p:cNvPr id="15" name="TextBox 14"/>
          <p:cNvSpPr txBox="1"/>
          <p:nvPr/>
        </p:nvSpPr>
        <p:spPr>
          <a:xfrm>
            <a:off x="685800" y="4462272"/>
            <a:ext cx="1828800" cy="320040"/>
          </a:xfrm>
          <a:prstGeom prst="rect">
            <a:avLst/>
          </a:prstGeom>
          <a:noFill/>
        </p:spPr>
        <p:txBody>
          <a:bodyPr wrap="square">
            <a:spAutoFit/>
          </a:bodyPr>
          <a:lstStyle/>
          <a:p>
            <a:pPr algn="l">
              <a:lnSpc>
                <a:spcPts val="1680"/>
              </a:lnSpc>
              <a:spcAft>
                <a:spcPts val="0"/>
              </a:spcAft>
              <a:defRPr sz="1400" b="1">
                <a:solidFill>
                  <a:srgbClr val="DC2626"/>
                </a:solidFill>
                <a:latin typeface="Calibri"/>
              </a:defRPr>
            </a:pPr>
            <a:r>
              <a:t>&gt;= 99.5%</a:t>
            </a:r>
          </a:p>
        </p:txBody>
      </p:sp>
      <p:sp>
        <p:nvSpPr>
          <p:cNvPr id="16" name="Rounded Rectangle 15"/>
          <p:cNvSpPr/>
          <p:nvPr/>
        </p:nvSpPr>
        <p:spPr>
          <a:xfrm>
            <a:off x="548640" y="493776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98348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Misconfig</a:t>
            </a:r>
          </a:p>
        </p:txBody>
      </p:sp>
      <p:sp>
        <p:nvSpPr>
          <p:cNvPr id="18" name="TextBox 17"/>
          <p:cNvSpPr txBox="1"/>
          <p:nvPr/>
        </p:nvSpPr>
        <p:spPr>
          <a:xfrm>
            <a:off x="685800" y="5285232"/>
            <a:ext cx="1828800" cy="320040"/>
          </a:xfrm>
          <a:prstGeom prst="rect">
            <a:avLst/>
          </a:prstGeom>
          <a:noFill/>
        </p:spPr>
        <p:txBody>
          <a:bodyPr wrap="square">
            <a:spAutoFit/>
          </a:bodyPr>
          <a:lstStyle/>
          <a:p>
            <a:pPr algn="l">
              <a:lnSpc>
                <a:spcPts val="1680"/>
              </a:lnSpc>
              <a:spcAft>
                <a:spcPts val="0"/>
              </a:spcAft>
              <a:defRPr sz="1400" b="1">
                <a:solidFill>
                  <a:srgbClr val="DC2626"/>
                </a:solidFill>
                <a:latin typeface="Calibri"/>
              </a:defRPr>
            </a:pPr>
            <a:r>
              <a:t>Zero incidents</a:t>
            </a:r>
          </a:p>
        </p:txBody>
      </p:sp>
      <p:sp>
        <p:nvSpPr>
          <p:cNvPr id="19" name="Rounded Rectangle 18"/>
          <p:cNvSpPr/>
          <p:nvPr/>
        </p:nvSpPr>
        <p:spPr>
          <a:xfrm>
            <a:off x="4297680" y="1645920"/>
            <a:ext cx="3474720" cy="64008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QUALITY</a:t>
            </a:r>
            <a:br/>
            <a:r>
              <a:t>Optimization Targets</a:t>
            </a:r>
          </a:p>
        </p:txBody>
      </p:sp>
      <p:sp>
        <p:nvSpPr>
          <p:cNvPr id="20" name="Rounded Rectangle 19"/>
          <p:cNvSpPr/>
          <p:nvPr/>
        </p:nvSpPr>
        <p:spPr>
          <a:xfrm>
            <a:off x="4389120" y="246888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251460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Precision</a:t>
            </a:r>
          </a:p>
        </p:txBody>
      </p:sp>
      <p:sp>
        <p:nvSpPr>
          <p:cNvPr id="22" name="TextBox 21"/>
          <p:cNvSpPr txBox="1"/>
          <p:nvPr/>
        </p:nvSpPr>
        <p:spPr>
          <a:xfrm>
            <a:off x="4526280" y="2816352"/>
            <a:ext cx="1828800" cy="320040"/>
          </a:xfrm>
          <a:prstGeom prst="rect">
            <a:avLst/>
          </a:prstGeom>
          <a:noFill/>
        </p:spPr>
        <p:txBody>
          <a:bodyPr wrap="square">
            <a:spAutoFit/>
          </a:bodyPr>
          <a:lstStyle/>
          <a:p>
            <a:pPr algn="l">
              <a:lnSpc>
                <a:spcPts val="1680"/>
              </a:lnSpc>
              <a:spcAft>
                <a:spcPts val="0"/>
              </a:spcAft>
              <a:defRPr sz="1400" b="1">
                <a:solidFill>
                  <a:srgbClr val="CA8A04"/>
                </a:solidFill>
                <a:latin typeface="Calibri"/>
              </a:defRPr>
            </a:pPr>
            <a:r>
              <a:t>&gt;= 70%</a:t>
            </a:r>
          </a:p>
        </p:txBody>
      </p:sp>
      <p:sp>
        <p:nvSpPr>
          <p:cNvPr id="23" name="Rounded Rectangle 22"/>
          <p:cNvSpPr/>
          <p:nvPr/>
        </p:nvSpPr>
        <p:spPr>
          <a:xfrm>
            <a:off x="4389120" y="329184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333756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Reviewer Agreement</a:t>
            </a:r>
          </a:p>
        </p:txBody>
      </p:sp>
      <p:sp>
        <p:nvSpPr>
          <p:cNvPr id="25" name="TextBox 24"/>
          <p:cNvSpPr txBox="1"/>
          <p:nvPr/>
        </p:nvSpPr>
        <p:spPr>
          <a:xfrm>
            <a:off x="4526280" y="3639312"/>
            <a:ext cx="1828800" cy="320040"/>
          </a:xfrm>
          <a:prstGeom prst="rect">
            <a:avLst/>
          </a:prstGeom>
          <a:noFill/>
        </p:spPr>
        <p:txBody>
          <a:bodyPr wrap="square">
            <a:spAutoFit/>
          </a:bodyPr>
          <a:lstStyle/>
          <a:p>
            <a:pPr algn="l">
              <a:lnSpc>
                <a:spcPts val="1680"/>
              </a:lnSpc>
              <a:spcAft>
                <a:spcPts val="0"/>
              </a:spcAft>
              <a:defRPr sz="1400" b="1">
                <a:solidFill>
                  <a:srgbClr val="CA8A04"/>
                </a:solidFill>
                <a:latin typeface="Calibri"/>
              </a:defRPr>
            </a:pPr>
            <a:r>
              <a:t>&gt;= 75%</a:t>
            </a:r>
          </a:p>
        </p:txBody>
      </p:sp>
      <p:sp>
        <p:nvSpPr>
          <p:cNvPr id="26" name="Rounded Rectangle 25"/>
          <p:cNvSpPr/>
          <p:nvPr/>
        </p:nvSpPr>
        <p:spPr>
          <a:xfrm>
            <a:off x="4389120" y="411480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416052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False Positive Rate</a:t>
            </a:r>
          </a:p>
        </p:txBody>
      </p:sp>
      <p:sp>
        <p:nvSpPr>
          <p:cNvPr id="28" name="TextBox 27"/>
          <p:cNvSpPr txBox="1"/>
          <p:nvPr/>
        </p:nvSpPr>
        <p:spPr>
          <a:xfrm>
            <a:off x="4526280" y="4462272"/>
            <a:ext cx="1828800" cy="320040"/>
          </a:xfrm>
          <a:prstGeom prst="rect">
            <a:avLst/>
          </a:prstGeom>
          <a:noFill/>
        </p:spPr>
        <p:txBody>
          <a:bodyPr wrap="square">
            <a:spAutoFit/>
          </a:bodyPr>
          <a:lstStyle/>
          <a:p>
            <a:pPr algn="l">
              <a:lnSpc>
                <a:spcPts val="1680"/>
              </a:lnSpc>
              <a:spcAft>
                <a:spcPts val="0"/>
              </a:spcAft>
              <a:defRPr sz="1400" b="1">
                <a:solidFill>
                  <a:srgbClr val="CA8A04"/>
                </a:solidFill>
                <a:latin typeface="Calibri"/>
              </a:defRPr>
            </a:pPr>
            <a:r>
              <a:t>&lt; 20%</a:t>
            </a:r>
          </a:p>
        </p:txBody>
      </p:sp>
      <p:sp>
        <p:nvSpPr>
          <p:cNvPr id="29" name="Rounded Rectangle 28"/>
          <p:cNvSpPr/>
          <p:nvPr/>
        </p:nvSpPr>
        <p:spPr>
          <a:xfrm>
            <a:off x="4389120" y="493776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98348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Time-to-Flag</a:t>
            </a:r>
          </a:p>
        </p:txBody>
      </p:sp>
      <p:sp>
        <p:nvSpPr>
          <p:cNvPr id="31" name="TextBox 30"/>
          <p:cNvSpPr txBox="1"/>
          <p:nvPr/>
        </p:nvSpPr>
        <p:spPr>
          <a:xfrm>
            <a:off x="4526280" y="5285232"/>
            <a:ext cx="1828800" cy="320040"/>
          </a:xfrm>
          <a:prstGeom prst="rect">
            <a:avLst/>
          </a:prstGeom>
          <a:noFill/>
        </p:spPr>
        <p:txBody>
          <a:bodyPr wrap="square">
            <a:spAutoFit/>
          </a:bodyPr>
          <a:lstStyle/>
          <a:p>
            <a:pPr algn="l">
              <a:lnSpc>
                <a:spcPts val="1680"/>
              </a:lnSpc>
              <a:spcAft>
                <a:spcPts val="0"/>
              </a:spcAft>
              <a:defRPr sz="1400" b="1">
                <a:solidFill>
                  <a:srgbClr val="CA8A04"/>
                </a:solidFill>
                <a:latin typeface="Calibri"/>
              </a:defRPr>
            </a:pPr>
            <a:r>
              <a:t>&lt; 30 min P95</a:t>
            </a:r>
          </a:p>
        </p:txBody>
      </p:sp>
      <p:sp>
        <p:nvSpPr>
          <p:cNvPr id="32" name="Rounded Rectangle 31"/>
          <p:cNvSpPr/>
          <p:nvPr/>
        </p:nvSpPr>
        <p:spPr>
          <a:xfrm>
            <a:off x="8138160" y="1645920"/>
            <a:ext cx="347472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BUSINESS</a:t>
            </a:r>
            <a:br/>
            <a:r>
              <a:t>Commercial Signals</a:t>
            </a:r>
          </a:p>
        </p:txBody>
      </p:sp>
      <p:sp>
        <p:nvSpPr>
          <p:cNvPr id="33" name="Rounded Rectangle 32"/>
          <p:cNvSpPr/>
          <p:nvPr/>
        </p:nvSpPr>
        <p:spPr>
          <a:xfrm>
            <a:off x="8229600" y="246888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60" y="251460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Time-to-Decision</a:t>
            </a:r>
          </a:p>
        </p:txBody>
      </p:sp>
      <p:sp>
        <p:nvSpPr>
          <p:cNvPr id="35" name="TextBox 34"/>
          <p:cNvSpPr txBox="1"/>
          <p:nvPr/>
        </p:nvSpPr>
        <p:spPr>
          <a:xfrm>
            <a:off x="8366760" y="2816352"/>
            <a:ext cx="1828800" cy="320040"/>
          </a:xfrm>
          <a:prstGeom prst="rect">
            <a:avLst/>
          </a:prstGeom>
          <a:noFill/>
        </p:spPr>
        <p:txBody>
          <a:bodyPr wrap="square">
            <a:spAutoFit/>
          </a:bodyPr>
          <a:lstStyle/>
          <a:p>
            <a:pPr algn="l">
              <a:lnSpc>
                <a:spcPts val="1680"/>
              </a:lnSpc>
              <a:spcAft>
                <a:spcPts val="0"/>
              </a:spcAft>
              <a:defRPr sz="1400" b="1">
                <a:solidFill>
                  <a:srgbClr val="16A34A"/>
                </a:solidFill>
                <a:latin typeface="Calibri"/>
              </a:defRPr>
            </a:pPr>
            <a:r>
              <a:t>&lt; 4 min median</a:t>
            </a:r>
          </a:p>
        </p:txBody>
      </p:sp>
      <p:sp>
        <p:nvSpPr>
          <p:cNvPr id="36" name="Rounded Rectangle 35"/>
          <p:cNvSpPr/>
          <p:nvPr/>
        </p:nvSpPr>
        <p:spPr>
          <a:xfrm>
            <a:off x="8229600" y="329184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333756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Reviewer NPS</a:t>
            </a:r>
          </a:p>
        </p:txBody>
      </p:sp>
      <p:sp>
        <p:nvSpPr>
          <p:cNvPr id="38" name="TextBox 37"/>
          <p:cNvSpPr txBox="1"/>
          <p:nvPr/>
        </p:nvSpPr>
        <p:spPr>
          <a:xfrm>
            <a:off x="8366760" y="3639312"/>
            <a:ext cx="1828800" cy="320040"/>
          </a:xfrm>
          <a:prstGeom prst="rect">
            <a:avLst/>
          </a:prstGeom>
          <a:noFill/>
        </p:spPr>
        <p:txBody>
          <a:bodyPr wrap="square">
            <a:spAutoFit/>
          </a:bodyPr>
          <a:lstStyle/>
          <a:p>
            <a:pPr algn="l">
              <a:lnSpc>
                <a:spcPts val="1680"/>
              </a:lnSpc>
              <a:spcAft>
                <a:spcPts val="0"/>
              </a:spcAft>
              <a:defRPr sz="1400" b="1">
                <a:solidFill>
                  <a:srgbClr val="16A34A"/>
                </a:solidFill>
                <a:latin typeface="Calibri"/>
              </a:defRPr>
            </a:pPr>
            <a:r>
              <a:t>&gt;= +20</a:t>
            </a:r>
          </a:p>
        </p:txBody>
      </p:sp>
      <p:sp>
        <p:nvSpPr>
          <p:cNvPr id="39" name="Rounded Rectangle 38"/>
          <p:cNvSpPr/>
          <p:nvPr/>
        </p:nvSpPr>
        <p:spPr>
          <a:xfrm>
            <a:off x="8229600" y="411480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416052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Conversion</a:t>
            </a:r>
          </a:p>
        </p:txBody>
      </p:sp>
      <p:sp>
        <p:nvSpPr>
          <p:cNvPr id="41" name="TextBox 40"/>
          <p:cNvSpPr txBox="1"/>
          <p:nvPr/>
        </p:nvSpPr>
        <p:spPr>
          <a:xfrm>
            <a:off x="8366760" y="4462272"/>
            <a:ext cx="1828800" cy="320040"/>
          </a:xfrm>
          <a:prstGeom prst="rect">
            <a:avLst/>
          </a:prstGeom>
          <a:noFill/>
        </p:spPr>
        <p:txBody>
          <a:bodyPr wrap="square">
            <a:spAutoFit/>
          </a:bodyPr>
          <a:lstStyle/>
          <a:p>
            <a:pPr algn="l">
              <a:lnSpc>
                <a:spcPts val="1680"/>
              </a:lnSpc>
              <a:spcAft>
                <a:spcPts val="0"/>
              </a:spcAft>
              <a:defRPr sz="1400" b="1">
                <a:solidFill>
                  <a:srgbClr val="16A34A"/>
                </a:solidFill>
                <a:latin typeface="Calibri"/>
              </a:defRPr>
            </a:pPr>
            <a:r>
              <a:t>Both partners by W14</a:t>
            </a:r>
          </a:p>
        </p:txBody>
      </p:sp>
      <p:sp>
        <p:nvSpPr>
          <p:cNvPr id="42" name="Rounded Rectangle 41"/>
          <p:cNvSpPr/>
          <p:nvPr/>
        </p:nvSpPr>
        <p:spPr>
          <a:xfrm>
            <a:off x="8229600" y="4937760"/>
            <a:ext cx="3291840" cy="6858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66760" y="4983480"/>
            <a:ext cx="1828800" cy="320040"/>
          </a:xfrm>
          <a:prstGeom prst="rect">
            <a:avLst/>
          </a:prstGeom>
          <a:noFill/>
        </p:spPr>
        <p:txBody>
          <a:bodyPr wrap="square">
            <a:spAutoFit/>
          </a:bodyPr>
          <a:lstStyle/>
          <a:p>
            <a:pPr algn="l">
              <a:lnSpc>
                <a:spcPts val="1439"/>
              </a:lnSpc>
              <a:spcAft>
                <a:spcPts val="0"/>
              </a:spcAft>
              <a:defRPr sz="1200" b="0">
                <a:solidFill>
                  <a:srgbClr val="0F172A"/>
                </a:solidFill>
                <a:latin typeface="Calibri"/>
              </a:defRPr>
            </a:pPr>
            <a:r>
              <a:t>Expansion</a:t>
            </a:r>
          </a:p>
        </p:txBody>
      </p:sp>
      <p:sp>
        <p:nvSpPr>
          <p:cNvPr id="44" name="TextBox 43"/>
          <p:cNvSpPr txBox="1"/>
          <p:nvPr/>
        </p:nvSpPr>
        <p:spPr>
          <a:xfrm>
            <a:off x="8366760" y="5285232"/>
            <a:ext cx="1828800" cy="320040"/>
          </a:xfrm>
          <a:prstGeom prst="rect">
            <a:avLst/>
          </a:prstGeom>
          <a:noFill/>
        </p:spPr>
        <p:txBody>
          <a:bodyPr wrap="square">
            <a:spAutoFit/>
          </a:bodyPr>
          <a:lstStyle/>
          <a:p>
            <a:pPr algn="l">
              <a:lnSpc>
                <a:spcPts val="1680"/>
              </a:lnSpc>
              <a:spcAft>
                <a:spcPts val="0"/>
              </a:spcAft>
              <a:defRPr sz="1400" b="1">
                <a:solidFill>
                  <a:srgbClr val="16A34A"/>
                </a:solidFill>
                <a:latin typeface="Calibri"/>
              </a:defRPr>
            </a:pPr>
            <a:r>
              <a:t>Additional programs</a:t>
            </a:r>
          </a:p>
        </p:txBody>
      </p:sp>
      <p:sp>
        <p:nvSpPr>
          <p:cNvPr id="45" name="TextBox 44"/>
          <p:cNvSpPr txBox="1"/>
          <p:nvPr/>
        </p:nvSpPr>
        <p:spPr>
          <a:xfrm>
            <a:off x="457200" y="5943600"/>
            <a:ext cx="11247120" cy="45720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Safety metrics must ALL pass. Quality misses trigger iteration, not termination. Business metrics inform commercialization.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06</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The Week 12 Decision</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Go / Conditional Go / No-Go framework</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3474720" cy="7315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GO</a:t>
            </a:r>
          </a:p>
        </p:txBody>
      </p:sp>
      <p:sp>
        <p:nvSpPr>
          <p:cNvPr id="7" name="Oval 6"/>
          <p:cNvSpPr/>
          <p:nvPr/>
        </p:nvSpPr>
        <p:spPr>
          <a:xfrm>
            <a:off x="731520" y="2724912"/>
            <a:ext cx="182880" cy="18288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5176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AE recall &gt;= 97%</a:t>
            </a:r>
          </a:p>
        </p:txBody>
      </p:sp>
      <p:sp>
        <p:nvSpPr>
          <p:cNvPr id="9" name="Oval 8"/>
          <p:cNvSpPr/>
          <p:nvPr/>
        </p:nvSpPr>
        <p:spPr>
          <a:xfrm>
            <a:off x="731520" y="3227832"/>
            <a:ext cx="182880" cy="18288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5468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No production AE misses</a:t>
            </a:r>
          </a:p>
        </p:txBody>
      </p:sp>
      <p:sp>
        <p:nvSpPr>
          <p:cNvPr id="11" name="Oval 10"/>
          <p:cNvSpPr/>
          <p:nvPr/>
        </p:nvSpPr>
        <p:spPr>
          <a:xfrm>
            <a:off x="731520" y="3730752"/>
            <a:ext cx="182880" cy="18288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65760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Time-to-decision &lt; 4 min</a:t>
            </a:r>
          </a:p>
        </p:txBody>
      </p:sp>
      <p:sp>
        <p:nvSpPr>
          <p:cNvPr id="13" name="Oval 12"/>
          <p:cNvSpPr/>
          <p:nvPr/>
        </p:nvSpPr>
        <p:spPr>
          <a:xfrm>
            <a:off x="731520" y="4233672"/>
            <a:ext cx="182880" cy="18288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6052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Both partners commit</a:t>
            </a:r>
          </a:p>
        </p:txBody>
      </p:sp>
      <p:sp>
        <p:nvSpPr>
          <p:cNvPr id="15" name="TextBox 14"/>
          <p:cNvSpPr txBox="1"/>
          <p:nvPr/>
        </p:nvSpPr>
        <p:spPr>
          <a:xfrm>
            <a:off x="640080" y="4937760"/>
            <a:ext cx="3291840" cy="274320"/>
          </a:xfrm>
          <a:prstGeom prst="rect">
            <a:avLst/>
          </a:prstGeom>
          <a:noFill/>
        </p:spPr>
        <p:txBody>
          <a:bodyPr wrap="square">
            <a:spAutoFit/>
          </a:bodyPr>
          <a:lstStyle/>
          <a:p>
            <a:pPr algn="l">
              <a:lnSpc>
                <a:spcPts val="1439"/>
              </a:lnSpc>
              <a:spcAft>
                <a:spcPts val="0"/>
              </a:spcAft>
              <a:defRPr sz="1200" b="1">
                <a:solidFill>
                  <a:srgbClr val="16A34A"/>
                </a:solidFill>
                <a:latin typeface="Calibri"/>
              </a:defRPr>
            </a:pPr>
            <a:r>
              <a:t>Next Steps:</a:t>
            </a:r>
          </a:p>
        </p:txBody>
      </p:sp>
      <p:sp>
        <p:nvSpPr>
          <p:cNvPr id="16" name="TextBox 15"/>
          <p:cNvSpPr txBox="1"/>
          <p:nvPr/>
        </p:nvSpPr>
        <p:spPr>
          <a:xfrm>
            <a:off x="640080" y="5212080"/>
            <a:ext cx="3291840" cy="640080"/>
          </a:xfrm>
          <a:prstGeom prst="rect">
            <a:avLst/>
          </a:prstGeom>
          <a:noFill/>
        </p:spPr>
        <p:txBody>
          <a:bodyPr wrap="square">
            <a:spAutoFit/>
          </a:bodyPr>
          <a:lstStyle/>
          <a:p>
            <a:pPr algn="l">
              <a:lnSpc>
                <a:spcPts val="1439"/>
              </a:lnSpc>
              <a:spcAft>
                <a:spcPts val="0"/>
              </a:spcAft>
              <a:defRPr sz="1200" b="0">
                <a:solidFill>
                  <a:srgbClr val="6B7280"/>
                </a:solidFill>
                <a:latin typeface="Calibri"/>
              </a:defRPr>
            </a:pPr>
            <a:r>
              <a:t>Convert to paid, begin V1.5,</a:t>
            </a:r>
            <a:br/>
            <a:r>
              <a:t>publish internal case study</a:t>
            </a:r>
          </a:p>
        </p:txBody>
      </p:sp>
      <p:sp>
        <p:nvSpPr>
          <p:cNvPr id="17" name="Rounded Rectangle 16"/>
          <p:cNvSpPr/>
          <p:nvPr/>
        </p:nvSpPr>
        <p:spPr>
          <a:xfrm>
            <a:off x="4389120" y="1645920"/>
            <a:ext cx="3474720" cy="73152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CONDITIONAL</a:t>
            </a:r>
            <a:br/>
            <a:r>
              <a:t>GO</a:t>
            </a:r>
          </a:p>
        </p:txBody>
      </p:sp>
      <p:sp>
        <p:nvSpPr>
          <p:cNvPr id="18" name="Oval 17"/>
          <p:cNvSpPr/>
          <p:nvPr/>
        </p:nvSpPr>
        <p:spPr>
          <a:xfrm>
            <a:off x="4572000" y="2724912"/>
            <a:ext cx="182880" cy="18288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265176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Most criteria met</a:t>
            </a:r>
          </a:p>
        </p:txBody>
      </p:sp>
      <p:sp>
        <p:nvSpPr>
          <p:cNvPr id="20" name="Oval 19"/>
          <p:cNvSpPr/>
          <p:nvPr/>
        </p:nvSpPr>
        <p:spPr>
          <a:xfrm>
            <a:off x="4572000" y="3227832"/>
            <a:ext cx="182880" cy="18288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315468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1-2 non-safety metrics short</a:t>
            </a:r>
          </a:p>
        </p:txBody>
      </p:sp>
      <p:sp>
        <p:nvSpPr>
          <p:cNvPr id="22" name="Oval 21"/>
          <p:cNvSpPr/>
          <p:nvPr/>
        </p:nvSpPr>
        <p:spPr>
          <a:xfrm>
            <a:off x="4572000" y="3730752"/>
            <a:ext cx="182880" cy="18288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365760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Max one retry cycle</a:t>
            </a:r>
          </a:p>
        </p:txBody>
      </p:sp>
      <p:sp>
        <p:nvSpPr>
          <p:cNvPr id="24" name="Oval 23"/>
          <p:cNvSpPr/>
          <p:nvPr/>
        </p:nvSpPr>
        <p:spPr>
          <a:xfrm>
            <a:off x="4572000" y="4233672"/>
            <a:ext cx="182880" cy="18288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416052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Named fixes + owners</a:t>
            </a:r>
          </a:p>
        </p:txBody>
      </p:sp>
      <p:sp>
        <p:nvSpPr>
          <p:cNvPr id="26" name="TextBox 25"/>
          <p:cNvSpPr txBox="1"/>
          <p:nvPr/>
        </p:nvSpPr>
        <p:spPr>
          <a:xfrm>
            <a:off x="4480560" y="4937760"/>
            <a:ext cx="3291840" cy="274320"/>
          </a:xfrm>
          <a:prstGeom prst="rect">
            <a:avLst/>
          </a:prstGeom>
          <a:noFill/>
        </p:spPr>
        <p:txBody>
          <a:bodyPr wrap="square">
            <a:spAutoFit/>
          </a:bodyPr>
          <a:lstStyle/>
          <a:p>
            <a:pPr algn="l">
              <a:lnSpc>
                <a:spcPts val="1439"/>
              </a:lnSpc>
              <a:spcAft>
                <a:spcPts val="0"/>
              </a:spcAft>
              <a:defRPr sz="1200" b="1">
                <a:solidFill>
                  <a:srgbClr val="CA8A04"/>
                </a:solidFill>
                <a:latin typeface="Calibri"/>
              </a:defRPr>
            </a:pPr>
            <a:r>
              <a:t>Next Steps:</a:t>
            </a:r>
          </a:p>
        </p:txBody>
      </p:sp>
      <p:sp>
        <p:nvSpPr>
          <p:cNvPr id="27" name="TextBox 26"/>
          <p:cNvSpPr txBox="1"/>
          <p:nvPr/>
        </p:nvSpPr>
        <p:spPr>
          <a:xfrm>
            <a:off x="4480560" y="5212080"/>
            <a:ext cx="3291840" cy="640080"/>
          </a:xfrm>
          <a:prstGeom prst="rect">
            <a:avLst/>
          </a:prstGeom>
          <a:noFill/>
        </p:spPr>
        <p:txBody>
          <a:bodyPr wrap="square">
            <a:spAutoFit/>
          </a:bodyPr>
          <a:lstStyle/>
          <a:p>
            <a:pPr algn="l">
              <a:lnSpc>
                <a:spcPts val="1439"/>
              </a:lnSpc>
              <a:spcAft>
                <a:spcPts val="0"/>
              </a:spcAft>
              <a:defRPr sz="1200" b="0">
                <a:solidFill>
                  <a:srgbClr val="6B7280"/>
                </a:solidFill>
                <a:latin typeface="Calibri"/>
              </a:defRPr>
            </a:pPr>
            <a:r>
              <a:t>4-week remediation,</a:t>
            </a:r>
            <a:br/>
            <a:r>
              <a:t>re-evaluate at Week 16</a:t>
            </a:r>
          </a:p>
        </p:txBody>
      </p:sp>
      <p:sp>
        <p:nvSpPr>
          <p:cNvPr id="28" name="Rounded Rectangle 27"/>
          <p:cNvSpPr/>
          <p:nvPr/>
        </p:nvSpPr>
        <p:spPr>
          <a:xfrm>
            <a:off x="8229600" y="1645920"/>
            <a:ext cx="3474720" cy="7315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NO-GO</a:t>
            </a:r>
          </a:p>
        </p:txBody>
      </p:sp>
      <p:sp>
        <p:nvSpPr>
          <p:cNvPr id="29" name="Oval 28"/>
          <p:cNvSpPr/>
          <p:nvPr/>
        </p:nvSpPr>
        <p:spPr>
          <a:xfrm>
            <a:off x="8412480" y="2724912"/>
            <a:ext cx="182880" cy="18288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0" y="265176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Recall below 93%</a:t>
            </a:r>
          </a:p>
        </p:txBody>
      </p:sp>
      <p:sp>
        <p:nvSpPr>
          <p:cNvPr id="31" name="Oval 30"/>
          <p:cNvSpPr/>
          <p:nvPr/>
        </p:nvSpPr>
        <p:spPr>
          <a:xfrm>
            <a:off x="8412480" y="3227832"/>
            <a:ext cx="182880" cy="18288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0" y="315468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Confirmed production miss</a:t>
            </a:r>
          </a:p>
        </p:txBody>
      </p:sp>
      <p:sp>
        <p:nvSpPr>
          <p:cNvPr id="33" name="Oval 32"/>
          <p:cNvSpPr/>
          <p:nvPr/>
        </p:nvSpPr>
        <p:spPr>
          <a:xfrm>
            <a:off x="8412480" y="3730752"/>
            <a:ext cx="182880" cy="18288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365760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FP rate exceeds 30%</a:t>
            </a:r>
          </a:p>
        </p:txBody>
      </p:sp>
      <p:sp>
        <p:nvSpPr>
          <p:cNvPr id="35" name="Oval 34"/>
          <p:cNvSpPr/>
          <p:nvPr/>
        </p:nvSpPr>
        <p:spPr>
          <a:xfrm>
            <a:off x="8412480" y="4233672"/>
            <a:ext cx="182880" cy="18288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0" y="4160520"/>
            <a:ext cx="2926080" cy="411480"/>
          </a:xfrm>
          <a:prstGeom prst="rect">
            <a:avLst/>
          </a:prstGeom>
          <a:noFill/>
        </p:spPr>
        <p:txBody>
          <a:bodyPr wrap="square">
            <a:spAutoFit/>
          </a:bodyPr>
          <a:lstStyle/>
          <a:p>
            <a:pPr algn="l">
              <a:lnSpc>
                <a:spcPts val="1560"/>
              </a:lnSpc>
              <a:spcAft>
                <a:spcPts val="0"/>
              </a:spcAft>
              <a:defRPr sz="1300" b="0">
                <a:solidFill>
                  <a:srgbClr val="0F172A"/>
                </a:solidFill>
                <a:latin typeface="Calibri"/>
              </a:defRPr>
            </a:pPr>
            <a:r>
              <a:t>Compliance blocked</a:t>
            </a:r>
          </a:p>
        </p:txBody>
      </p:sp>
      <p:sp>
        <p:nvSpPr>
          <p:cNvPr id="37" name="TextBox 36"/>
          <p:cNvSpPr txBox="1"/>
          <p:nvPr/>
        </p:nvSpPr>
        <p:spPr>
          <a:xfrm>
            <a:off x="8321040" y="4937760"/>
            <a:ext cx="3291840" cy="274320"/>
          </a:xfrm>
          <a:prstGeom prst="rect">
            <a:avLst/>
          </a:prstGeom>
          <a:noFill/>
        </p:spPr>
        <p:txBody>
          <a:bodyPr wrap="square">
            <a:spAutoFit/>
          </a:bodyPr>
          <a:lstStyle/>
          <a:p>
            <a:pPr algn="l">
              <a:lnSpc>
                <a:spcPts val="1439"/>
              </a:lnSpc>
              <a:spcAft>
                <a:spcPts val="0"/>
              </a:spcAft>
              <a:defRPr sz="1200" b="1">
                <a:solidFill>
                  <a:srgbClr val="DC2626"/>
                </a:solidFill>
                <a:latin typeface="Calibri"/>
              </a:defRPr>
            </a:pPr>
            <a:r>
              <a:t>Next Steps:</a:t>
            </a:r>
          </a:p>
        </p:txBody>
      </p:sp>
      <p:sp>
        <p:nvSpPr>
          <p:cNvPr id="38" name="TextBox 37"/>
          <p:cNvSpPr txBox="1"/>
          <p:nvPr/>
        </p:nvSpPr>
        <p:spPr>
          <a:xfrm>
            <a:off x="8321040" y="5212080"/>
            <a:ext cx="3291840" cy="640080"/>
          </a:xfrm>
          <a:prstGeom prst="rect">
            <a:avLst/>
          </a:prstGeom>
          <a:noFill/>
        </p:spPr>
        <p:txBody>
          <a:bodyPr wrap="square">
            <a:spAutoFit/>
          </a:bodyPr>
          <a:lstStyle/>
          <a:p>
            <a:pPr algn="l">
              <a:lnSpc>
                <a:spcPts val="1439"/>
              </a:lnSpc>
              <a:spcAft>
                <a:spcPts val="0"/>
              </a:spcAft>
              <a:defRPr sz="1200" b="0">
                <a:solidFill>
                  <a:srgbClr val="6B7280"/>
                </a:solidFill>
                <a:latin typeface="Calibri"/>
              </a:defRPr>
            </a:pPr>
            <a:r>
              <a:t>Post-mortem, preserve data,</a:t>
            </a:r>
            <a:br/>
            <a:r>
              <a:t>re-evaluate in 6 months</a:t>
            </a:r>
          </a:p>
        </p:txBody>
      </p:sp>
      <p:sp>
        <p:nvSpPr>
          <p:cNvPr id="39" name="Rounded Rectangle 38"/>
          <p:cNvSpPr/>
          <p:nvPr/>
        </p:nvSpPr>
        <p:spPr>
          <a:xfrm>
            <a:off x="914400" y="5760720"/>
            <a:ext cx="10332720" cy="54864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0">
                <a:solidFill>
                  <a:srgbClr val="0F172A"/>
                </a:solidFill>
                <a:latin typeface="Calibri"/>
              </a:defRPr>
            </a:pPr>
            <a:r>
              <a:t>Rule: Safety metrics must ALL pass for any Go outcome. No Conditional Go for safety failures.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07</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The Post-Pilot Roadmap</a:t>
            </a:r>
          </a:p>
        </p:txBody>
      </p:sp>
      <p:sp>
        <p:nvSpPr>
          <p:cNvPr id="4" name="TextBox 3"/>
          <p:cNvSpPr txBox="1"/>
          <p:nvPr/>
        </p:nvSpPr>
        <p:spPr>
          <a:xfrm>
            <a:off x="548640" y="960120"/>
            <a:ext cx="9144000" cy="457200"/>
          </a:xfrm>
          <a:prstGeom prst="rect">
            <a:avLst/>
          </a:prstGeom>
          <a:noFill/>
        </p:spPr>
        <p:txBody>
          <a:bodyPr wrap="square">
            <a:spAutoFit/>
          </a:bodyPr>
          <a:lstStyle/>
          <a:p>
            <a:pPr algn="l">
              <a:lnSpc>
                <a:spcPts val="1920"/>
              </a:lnSpc>
              <a:spcAft>
                <a:spcPts val="0"/>
              </a:spcAft>
              <a:defRPr sz="1600" b="0">
                <a:solidFill>
                  <a:srgbClr val="6B7280"/>
                </a:solidFill>
                <a:latin typeface="Calibri"/>
              </a:defRPr>
            </a:pPr>
            <a:r>
              <a:t>From pilot to system of record in 24 months</a:t>
            </a:r>
          </a:p>
        </p:txBody>
      </p:sp>
      <p:sp>
        <p:nvSpPr>
          <p:cNvPr id="5" name="Rectangle 4"/>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011680"/>
            <a:ext cx="2651760" cy="5029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Q1: PILOT</a:t>
            </a:r>
          </a:p>
        </p:txBody>
      </p:sp>
      <p:sp>
        <p:nvSpPr>
          <p:cNvPr id="7" name="TextBox 6"/>
          <p:cNvSpPr txBox="1"/>
          <p:nvPr/>
        </p:nvSpPr>
        <p:spPr>
          <a:xfrm>
            <a:off x="640080" y="2560320"/>
            <a:ext cx="2468880" cy="27432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Months 1-3</a:t>
            </a:r>
          </a:p>
        </p:txBody>
      </p:sp>
      <p:sp>
        <p:nvSpPr>
          <p:cNvPr id="8" name="TextBox 7"/>
          <p:cNvSpPr txBox="1"/>
          <p:nvPr/>
        </p:nvSpPr>
        <p:spPr>
          <a:xfrm>
            <a:off x="685800" y="2926080"/>
            <a:ext cx="2377440" cy="1371600"/>
          </a:xfrm>
          <a:prstGeom prst="rect">
            <a:avLst/>
          </a:prstGeom>
          <a:noFill/>
        </p:spPr>
        <p:txBody>
          <a:bodyPr wrap="square">
            <a:spAutoFit/>
          </a:bodyPr>
          <a:lstStyle/>
          <a:p>
            <a:pPr algn="ctr">
              <a:lnSpc>
                <a:spcPts val="1950"/>
              </a:lnSpc>
              <a:spcAft>
                <a:spcPts val="0"/>
              </a:spcAft>
              <a:defRPr sz="1300" b="0">
                <a:solidFill>
                  <a:srgbClr val="0F172A"/>
                </a:solidFill>
                <a:latin typeface="Calibri"/>
              </a:defRPr>
            </a:pPr>
            <a:r>
              <a:t>Build MVP</a:t>
            </a:r>
            <a:br/>
            <a:r>
              <a:t>Onboard 2 partners</a:t>
            </a:r>
            <a:br/>
            <a:r>
              <a:t>Validate AE detection</a:t>
            </a:r>
          </a:p>
        </p:txBody>
      </p:sp>
      <p:sp>
        <p:nvSpPr>
          <p:cNvPr id="9" name="Right Arrow 8"/>
          <p:cNvSpPr/>
          <p:nvPr/>
        </p:nvSpPr>
        <p:spPr>
          <a:xfrm>
            <a:off x="3246120" y="2148840"/>
            <a:ext cx="13716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29000" y="2011680"/>
            <a:ext cx="2651760" cy="50292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Q2: COMMERCIALIZE</a:t>
            </a:r>
          </a:p>
        </p:txBody>
      </p:sp>
      <p:sp>
        <p:nvSpPr>
          <p:cNvPr id="11" name="TextBox 10"/>
          <p:cNvSpPr txBox="1"/>
          <p:nvPr/>
        </p:nvSpPr>
        <p:spPr>
          <a:xfrm>
            <a:off x="3520440" y="2560320"/>
            <a:ext cx="2468880" cy="27432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Months 4-6</a:t>
            </a:r>
          </a:p>
        </p:txBody>
      </p:sp>
      <p:sp>
        <p:nvSpPr>
          <p:cNvPr id="12" name="TextBox 11"/>
          <p:cNvSpPr txBox="1"/>
          <p:nvPr/>
        </p:nvSpPr>
        <p:spPr>
          <a:xfrm>
            <a:off x="3566160" y="2926080"/>
            <a:ext cx="2377440" cy="1371600"/>
          </a:xfrm>
          <a:prstGeom prst="rect">
            <a:avLst/>
          </a:prstGeom>
          <a:noFill/>
        </p:spPr>
        <p:txBody>
          <a:bodyPr wrap="square">
            <a:spAutoFit/>
          </a:bodyPr>
          <a:lstStyle/>
          <a:p>
            <a:pPr algn="ctr">
              <a:lnSpc>
                <a:spcPts val="1950"/>
              </a:lnSpc>
              <a:spcAft>
                <a:spcPts val="0"/>
              </a:spcAft>
              <a:defRPr sz="1300" b="0">
                <a:solidFill>
                  <a:srgbClr val="0F172A"/>
                </a:solidFill>
                <a:latin typeface="Calibri"/>
              </a:defRPr>
            </a:pPr>
            <a:r>
              <a:t>Convert to paid</a:t>
            </a:r>
            <a:br/>
            <a:r>
              <a:t>2-3 new customers</a:t>
            </a:r>
            <a:br/>
            <a:r>
              <a:t>Begin V1.5</a:t>
            </a:r>
          </a:p>
        </p:txBody>
      </p:sp>
      <p:sp>
        <p:nvSpPr>
          <p:cNvPr id="13" name="Right Arrow 12"/>
          <p:cNvSpPr/>
          <p:nvPr/>
        </p:nvSpPr>
        <p:spPr>
          <a:xfrm>
            <a:off x="6126480" y="2148840"/>
            <a:ext cx="13716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2011680"/>
            <a:ext cx="2651760"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Q3: EXPAND</a:t>
            </a:r>
          </a:p>
        </p:txBody>
      </p:sp>
      <p:sp>
        <p:nvSpPr>
          <p:cNvPr id="15" name="TextBox 14"/>
          <p:cNvSpPr txBox="1"/>
          <p:nvPr/>
        </p:nvSpPr>
        <p:spPr>
          <a:xfrm>
            <a:off x="6400800" y="2560320"/>
            <a:ext cx="2468880" cy="27432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Months 7-9</a:t>
            </a:r>
          </a:p>
        </p:txBody>
      </p:sp>
      <p:sp>
        <p:nvSpPr>
          <p:cNvPr id="16" name="TextBox 15"/>
          <p:cNvSpPr txBox="1"/>
          <p:nvPr/>
        </p:nvSpPr>
        <p:spPr>
          <a:xfrm>
            <a:off x="6446520" y="2926080"/>
            <a:ext cx="2377440" cy="1371600"/>
          </a:xfrm>
          <a:prstGeom prst="rect">
            <a:avLst/>
          </a:prstGeom>
          <a:noFill/>
        </p:spPr>
        <p:txBody>
          <a:bodyPr wrap="square">
            <a:spAutoFit/>
          </a:bodyPr>
          <a:lstStyle/>
          <a:p>
            <a:pPr algn="ctr">
              <a:lnSpc>
                <a:spcPts val="1950"/>
              </a:lnSpc>
              <a:spcAft>
                <a:spcPts val="0"/>
              </a:spcAft>
              <a:defRPr sz="1300" b="0">
                <a:solidFill>
                  <a:srgbClr val="0F172A"/>
                </a:solidFill>
                <a:latin typeface="Calibri"/>
              </a:defRPr>
            </a:pPr>
            <a:r>
              <a:t>Launch V1.5</a:t>
            </a:r>
            <a:br/>
            <a:r>
              <a:t>SOP + multi-channel</a:t>
            </a:r>
            <a:br/>
            <a:r>
              <a:t>Expand within customers</a:t>
            </a:r>
          </a:p>
        </p:txBody>
      </p:sp>
      <p:sp>
        <p:nvSpPr>
          <p:cNvPr id="17" name="Right Arrow 16"/>
          <p:cNvSpPr/>
          <p:nvPr/>
        </p:nvSpPr>
        <p:spPr>
          <a:xfrm>
            <a:off x="9006840" y="2148840"/>
            <a:ext cx="137160" cy="22860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89720" y="2011680"/>
            <a:ext cx="26517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FFFFFF"/>
                </a:solidFill>
                <a:latin typeface="Calibri"/>
              </a:defRPr>
            </a:pPr>
            <a:r>
              <a:t>Q4: SCALE</a:t>
            </a:r>
          </a:p>
        </p:txBody>
      </p:sp>
      <p:sp>
        <p:nvSpPr>
          <p:cNvPr id="19" name="TextBox 18"/>
          <p:cNvSpPr txBox="1"/>
          <p:nvPr/>
        </p:nvSpPr>
        <p:spPr>
          <a:xfrm>
            <a:off x="9281160" y="2560320"/>
            <a:ext cx="2468880" cy="27432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Months 10-12</a:t>
            </a:r>
          </a:p>
        </p:txBody>
      </p:sp>
      <p:sp>
        <p:nvSpPr>
          <p:cNvPr id="20" name="TextBox 19"/>
          <p:cNvSpPr txBox="1"/>
          <p:nvPr/>
        </p:nvSpPr>
        <p:spPr>
          <a:xfrm>
            <a:off x="9326880" y="2926080"/>
            <a:ext cx="2377440" cy="1371600"/>
          </a:xfrm>
          <a:prstGeom prst="rect">
            <a:avLst/>
          </a:prstGeom>
          <a:noFill/>
        </p:spPr>
        <p:txBody>
          <a:bodyPr wrap="square">
            <a:spAutoFit/>
          </a:bodyPr>
          <a:lstStyle/>
          <a:p>
            <a:pPr algn="ctr">
              <a:lnSpc>
                <a:spcPts val="1950"/>
              </a:lnSpc>
              <a:spcAft>
                <a:spcPts val="0"/>
              </a:spcAft>
              <a:defRPr sz="1300" b="0">
                <a:solidFill>
                  <a:srgbClr val="0F172A"/>
                </a:solidFill>
                <a:latin typeface="Calibri"/>
              </a:defRPr>
            </a:pPr>
            <a:r>
              <a:t>Launch V2</a:t>
            </a:r>
            <a:br/>
            <a:r>
              <a:t>Fax + multilingual</a:t>
            </a:r>
            <a:br/>
            <a:r>
              <a:t>Sales playbook</a:t>
            </a:r>
          </a:p>
        </p:txBody>
      </p:sp>
      <p:sp>
        <p:nvSpPr>
          <p:cNvPr id="21" name="Rectangle 20"/>
          <p:cNvSpPr/>
          <p:nvPr/>
        </p:nvSpPr>
        <p:spPr>
          <a:xfrm>
            <a:off x="548640" y="4572000"/>
            <a:ext cx="1106424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846320"/>
            <a:ext cx="11064240" cy="731520"/>
          </a:xfrm>
          <a:prstGeom prst="rect">
            <a:avLst/>
          </a:prstGeom>
          <a:noFill/>
        </p:spPr>
        <p:txBody>
          <a:bodyPr wrap="square">
            <a:spAutoFit/>
          </a:bodyPr>
          <a:lstStyle/>
          <a:p>
            <a:pPr algn="ctr">
              <a:lnSpc>
                <a:spcPts val="1920"/>
              </a:lnSpc>
              <a:spcAft>
                <a:spcPts val="0"/>
              </a:spcAft>
              <a:defRPr sz="1600" b="1">
                <a:solidFill>
                  <a:srgbClr val="0F172A"/>
                </a:solidFill>
                <a:latin typeface="Calibri"/>
              </a:defRPr>
            </a:pPr>
            <a:r>
              <a:t>24-Month North Star: PharCovAI becomes the system of record for AI-enabled pharmacovigilance — analyzing millions of conversations monthly, across all channels and languages, with regulatory acceptance.</a:t>
            </a:r>
          </a:p>
        </p:txBody>
      </p:sp>
      <p:sp>
        <p:nvSpPr>
          <p:cNvPr id="23" name="Oval 22"/>
          <p:cNvSpPr/>
          <p:nvPr/>
        </p:nvSpPr>
        <p:spPr>
          <a:xfrm>
            <a:off x="1371600" y="5532120"/>
            <a:ext cx="182880" cy="1828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5486400"/>
            <a:ext cx="9144000" cy="320040"/>
          </a:xfrm>
          <a:prstGeom prst="rect">
            <a:avLst/>
          </a:prstGeom>
          <a:noFill/>
        </p:spPr>
        <p:txBody>
          <a:bodyPr wrap="square">
            <a:spAutoFit/>
          </a:bodyPr>
          <a:lstStyle/>
          <a:p>
            <a:pPr algn="l">
              <a:lnSpc>
                <a:spcPts val="1439"/>
              </a:lnSpc>
              <a:spcAft>
                <a:spcPts val="0"/>
              </a:spcAft>
              <a:defRPr sz="1200" b="0">
                <a:solidFill>
                  <a:srgbClr val="6B7280"/>
                </a:solidFill>
                <a:latin typeface="Calibri"/>
              </a:defRPr>
            </a:pPr>
            <a:r>
              <a:t>Market is spending but underserved — $10B+ with no healthcare-native AI platform</a:t>
            </a:r>
          </a:p>
        </p:txBody>
      </p:sp>
      <p:sp>
        <p:nvSpPr>
          <p:cNvPr id="25" name="Oval 24"/>
          <p:cNvSpPr/>
          <p:nvPr/>
        </p:nvSpPr>
        <p:spPr>
          <a:xfrm>
            <a:off x="1371600" y="5897880"/>
            <a:ext cx="182880" cy="1828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7360" y="5852160"/>
            <a:ext cx="9144000" cy="320040"/>
          </a:xfrm>
          <a:prstGeom prst="rect">
            <a:avLst/>
          </a:prstGeom>
          <a:noFill/>
        </p:spPr>
        <p:txBody>
          <a:bodyPr wrap="square">
            <a:spAutoFit/>
          </a:bodyPr>
          <a:lstStyle/>
          <a:p>
            <a:pPr algn="l">
              <a:lnSpc>
                <a:spcPts val="1439"/>
              </a:lnSpc>
              <a:spcAft>
                <a:spcPts val="0"/>
              </a:spcAft>
              <a:defRPr sz="1200" b="0">
                <a:solidFill>
                  <a:srgbClr val="6B7280"/>
                </a:solidFill>
                <a:latin typeface="Calibri"/>
              </a:defRPr>
            </a:pPr>
            <a:r>
              <a:t>Infinitus is uniquely positioned — 18-24 month head start over competitors</a:t>
            </a:r>
          </a:p>
        </p:txBody>
      </p:sp>
      <p:sp>
        <p:nvSpPr>
          <p:cNvPr id="27" name="Oval 26"/>
          <p:cNvSpPr/>
          <p:nvPr/>
        </p:nvSpPr>
        <p:spPr>
          <a:xfrm>
            <a:off x="1371600" y="6263640"/>
            <a:ext cx="182880" cy="1828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360" y="6217920"/>
            <a:ext cx="9144000" cy="320040"/>
          </a:xfrm>
          <a:prstGeom prst="rect">
            <a:avLst/>
          </a:prstGeom>
          <a:noFill/>
        </p:spPr>
        <p:txBody>
          <a:bodyPr wrap="square">
            <a:spAutoFit/>
          </a:bodyPr>
          <a:lstStyle/>
          <a:p>
            <a:pPr algn="l">
              <a:lnSpc>
                <a:spcPts val="1439"/>
              </a:lnSpc>
              <a:spcAft>
                <a:spcPts val="0"/>
              </a:spcAft>
              <a:defRPr sz="1200" b="0">
                <a:solidFill>
                  <a:srgbClr val="6B7280"/>
                </a:solidFill>
                <a:latin typeface="Calibri"/>
              </a:defRPr>
            </a:pPr>
            <a:r>
              <a:t>Window is time-bounded — first mover in AI governance becomes the default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548640" cy="411480"/>
          </a:xfrm>
          <a:prstGeom prst="rect">
            <a:avLst/>
          </a:prstGeom>
          <a:noFill/>
        </p:spPr>
        <p:txBody>
          <a:bodyPr wrap="square">
            <a:spAutoFit/>
          </a:bodyPr>
          <a:lstStyle/>
          <a:p>
            <a:pPr algn="l">
              <a:lnSpc>
                <a:spcPts val="1680"/>
              </a:lnSpc>
              <a:spcAft>
                <a:spcPts val="0"/>
              </a:spcAft>
              <a:defRPr sz="1400" b="1">
                <a:solidFill>
                  <a:srgbClr val="0D9488"/>
                </a:solidFill>
                <a:latin typeface="Calibri"/>
              </a:defRPr>
            </a:pPr>
            <a:r>
              <a:t>07</a:t>
            </a:r>
          </a:p>
        </p:txBody>
      </p:sp>
      <p:sp>
        <p:nvSpPr>
          <p:cNvPr id="3" name="TextBox 2"/>
          <p:cNvSpPr txBox="1"/>
          <p:nvPr/>
        </p:nvSpPr>
        <p:spPr>
          <a:xfrm>
            <a:off x="548640" y="365760"/>
            <a:ext cx="9144000" cy="640080"/>
          </a:xfrm>
          <a:prstGeom prst="rect">
            <a:avLst/>
          </a:prstGeom>
          <a:noFill/>
        </p:spPr>
        <p:txBody>
          <a:bodyPr wrap="square">
            <a:spAutoFit/>
          </a:bodyPr>
          <a:lstStyle/>
          <a:p>
            <a:pPr algn="l">
              <a:lnSpc>
                <a:spcPts val="3840"/>
              </a:lnSpc>
              <a:spcAft>
                <a:spcPts val="0"/>
              </a:spcAft>
              <a:defRPr sz="3200" b="1">
                <a:solidFill>
                  <a:srgbClr val="0F172A"/>
                </a:solidFill>
                <a:latin typeface="Calibri"/>
              </a:defRPr>
            </a:pPr>
            <a:r>
              <a:t>The Ask</a:t>
            </a:r>
          </a:p>
        </p:txBody>
      </p:sp>
      <p:sp>
        <p:nvSpPr>
          <p:cNvPr id="4" name="Rectangle 3"/>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2011680"/>
            <a:ext cx="2148840" cy="32004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2286000"/>
            <a:ext cx="594360" cy="5943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200" b="1">
                <a:solidFill>
                  <a:srgbClr val="FFFFFF"/>
                </a:solidFill>
                <a:latin typeface="Calibri"/>
              </a:defRPr>
            </a:pPr>
            <a:r>
              <a:t>1</a:t>
            </a:r>
          </a:p>
        </p:txBody>
      </p:sp>
      <p:sp>
        <p:nvSpPr>
          <p:cNvPr id="7" name="TextBox 6"/>
          <p:cNvSpPr txBox="1"/>
          <p:nvPr/>
        </p:nvSpPr>
        <p:spPr>
          <a:xfrm>
            <a:off x="502920" y="3108960"/>
            <a:ext cx="1874519" cy="731520"/>
          </a:xfrm>
          <a:prstGeom prst="rect">
            <a:avLst/>
          </a:prstGeom>
          <a:noFill/>
        </p:spPr>
        <p:txBody>
          <a:bodyPr wrap="square">
            <a:spAutoFit/>
          </a:bodyPr>
          <a:lstStyle/>
          <a:p>
            <a:pPr algn="ctr">
              <a:lnSpc>
                <a:spcPts val="1800"/>
              </a:lnSpc>
              <a:spcAft>
                <a:spcPts val="0"/>
              </a:spcAft>
              <a:defRPr sz="1500" b="1">
                <a:solidFill>
                  <a:srgbClr val="0F172A"/>
                </a:solidFill>
                <a:latin typeface="Calibri"/>
              </a:defRPr>
            </a:pPr>
            <a:r>
              <a:t>Engineering</a:t>
            </a:r>
            <a:br/>
            <a:r>
              <a:t>Allocation</a:t>
            </a:r>
          </a:p>
        </p:txBody>
      </p:sp>
      <p:sp>
        <p:nvSpPr>
          <p:cNvPr id="8" name="TextBox 7"/>
          <p:cNvSpPr txBox="1"/>
          <p:nvPr/>
        </p:nvSpPr>
        <p:spPr>
          <a:xfrm>
            <a:off x="502920" y="4023360"/>
            <a:ext cx="1874519" cy="91440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Dedicated team of 4-6 engineers</a:t>
            </a:r>
            <a:br/>
            <a:r>
              <a:t>for 12 weeks</a:t>
            </a:r>
          </a:p>
        </p:txBody>
      </p:sp>
      <p:sp>
        <p:nvSpPr>
          <p:cNvPr id="9" name="Rounded Rectangle 8"/>
          <p:cNvSpPr/>
          <p:nvPr/>
        </p:nvSpPr>
        <p:spPr>
          <a:xfrm>
            <a:off x="2697480" y="2011680"/>
            <a:ext cx="2148840" cy="32004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74720" y="2286000"/>
            <a:ext cx="594360" cy="59436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200" b="1">
                <a:solidFill>
                  <a:srgbClr val="FFFFFF"/>
                </a:solidFill>
                <a:latin typeface="Calibri"/>
              </a:defRPr>
            </a:pPr>
            <a:r>
              <a:t>2</a:t>
            </a:r>
          </a:p>
        </p:txBody>
      </p:sp>
      <p:sp>
        <p:nvSpPr>
          <p:cNvPr id="11" name="TextBox 10"/>
          <p:cNvSpPr txBox="1"/>
          <p:nvPr/>
        </p:nvSpPr>
        <p:spPr>
          <a:xfrm>
            <a:off x="2834640" y="3108960"/>
            <a:ext cx="1874519" cy="731520"/>
          </a:xfrm>
          <a:prstGeom prst="rect">
            <a:avLst/>
          </a:prstGeom>
          <a:noFill/>
        </p:spPr>
        <p:txBody>
          <a:bodyPr wrap="square">
            <a:spAutoFit/>
          </a:bodyPr>
          <a:lstStyle/>
          <a:p>
            <a:pPr algn="ctr">
              <a:lnSpc>
                <a:spcPts val="1800"/>
              </a:lnSpc>
              <a:spcAft>
                <a:spcPts val="0"/>
              </a:spcAft>
              <a:defRPr sz="1500" b="1">
                <a:solidFill>
                  <a:srgbClr val="0F172A"/>
                </a:solidFill>
                <a:latin typeface="Calibri"/>
              </a:defRPr>
            </a:pPr>
            <a:r>
              <a:t>Data Science</a:t>
            </a:r>
            <a:br/>
            <a:r>
              <a:t>Support</a:t>
            </a:r>
          </a:p>
        </p:txBody>
      </p:sp>
      <p:sp>
        <p:nvSpPr>
          <p:cNvPr id="12" name="TextBox 11"/>
          <p:cNvSpPr txBox="1"/>
          <p:nvPr/>
        </p:nvSpPr>
        <p:spPr>
          <a:xfrm>
            <a:off x="2834640" y="4023360"/>
            <a:ext cx="1874519" cy="91440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1-2 ML engineers for AE model</a:t>
            </a:r>
            <a:br/>
            <a:r>
              <a:t>development and calibration</a:t>
            </a:r>
          </a:p>
        </p:txBody>
      </p:sp>
      <p:sp>
        <p:nvSpPr>
          <p:cNvPr id="13" name="Rounded Rectangle 12"/>
          <p:cNvSpPr/>
          <p:nvPr/>
        </p:nvSpPr>
        <p:spPr>
          <a:xfrm>
            <a:off x="5029200" y="2011680"/>
            <a:ext cx="2148840" cy="32004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06440" y="2286000"/>
            <a:ext cx="594360" cy="5943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200" b="1">
                <a:solidFill>
                  <a:srgbClr val="FFFFFF"/>
                </a:solidFill>
                <a:latin typeface="Calibri"/>
              </a:defRPr>
            </a:pPr>
            <a:r>
              <a:t>3</a:t>
            </a:r>
          </a:p>
        </p:txBody>
      </p:sp>
      <p:sp>
        <p:nvSpPr>
          <p:cNvPr id="15" name="TextBox 14"/>
          <p:cNvSpPr txBox="1"/>
          <p:nvPr/>
        </p:nvSpPr>
        <p:spPr>
          <a:xfrm>
            <a:off x="5166360" y="3108960"/>
            <a:ext cx="1874519" cy="731520"/>
          </a:xfrm>
          <a:prstGeom prst="rect">
            <a:avLst/>
          </a:prstGeom>
          <a:noFill/>
        </p:spPr>
        <p:txBody>
          <a:bodyPr wrap="square">
            <a:spAutoFit/>
          </a:bodyPr>
          <a:lstStyle/>
          <a:p>
            <a:pPr algn="ctr">
              <a:lnSpc>
                <a:spcPts val="1800"/>
              </a:lnSpc>
              <a:spcAft>
                <a:spcPts val="0"/>
              </a:spcAft>
              <a:defRPr sz="1500" b="1">
                <a:solidFill>
                  <a:srgbClr val="0F172A"/>
                </a:solidFill>
                <a:latin typeface="Calibri"/>
              </a:defRPr>
            </a:pPr>
            <a:r>
              <a:t>Pilot Partner</a:t>
            </a:r>
            <a:br/>
            <a:r>
              <a:t>Commitment</a:t>
            </a:r>
          </a:p>
        </p:txBody>
      </p:sp>
      <p:sp>
        <p:nvSpPr>
          <p:cNvPr id="16" name="TextBox 15"/>
          <p:cNvSpPr txBox="1"/>
          <p:nvPr/>
        </p:nvSpPr>
        <p:spPr>
          <a:xfrm>
            <a:off x="5166360" y="4023360"/>
            <a:ext cx="1874519" cy="91440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Executive sponsorship to engage</a:t>
            </a:r>
            <a:br/>
            <a:r>
              <a:t>2 existing pharma customers</a:t>
            </a:r>
          </a:p>
        </p:txBody>
      </p:sp>
      <p:sp>
        <p:nvSpPr>
          <p:cNvPr id="17" name="Rounded Rectangle 16"/>
          <p:cNvSpPr/>
          <p:nvPr/>
        </p:nvSpPr>
        <p:spPr>
          <a:xfrm>
            <a:off x="7360920" y="2011680"/>
            <a:ext cx="2148840" cy="32004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38160" y="2286000"/>
            <a:ext cx="594360" cy="59436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200" b="1">
                <a:solidFill>
                  <a:srgbClr val="FFFFFF"/>
                </a:solidFill>
                <a:latin typeface="Calibri"/>
              </a:defRPr>
            </a:pPr>
            <a:r>
              <a:t>4</a:t>
            </a:r>
          </a:p>
        </p:txBody>
      </p:sp>
      <p:sp>
        <p:nvSpPr>
          <p:cNvPr id="19" name="TextBox 18"/>
          <p:cNvSpPr txBox="1"/>
          <p:nvPr/>
        </p:nvSpPr>
        <p:spPr>
          <a:xfrm>
            <a:off x="7498080" y="3108960"/>
            <a:ext cx="1874519" cy="731520"/>
          </a:xfrm>
          <a:prstGeom prst="rect">
            <a:avLst/>
          </a:prstGeom>
          <a:noFill/>
        </p:spPr>
        <p:txBody>
          <a:bodyPr wrap="square">
            <a:spAutoFit/>
          </a:bodyPr>
          <a:lstStyle/>
          <a:p>
            <a:pPr algn="ctr">
              <a:lnSpc>
                <a:spcPts val="1800"/>
              </a:lnSpc>
              <a:spcAft>
                <a:spcPts val="0"/>
              </a:spcAft>
              <a:defRPr sz="1500" b="1">
                <a:solidFill>
                  <a:srgbClr val="0F172A"/>
                </a:solidFill>
                <a:latin typeface="Calibri"/>
              </a:defRPr>
            </a:pPr>
            <a:r>
              <a:t>Legal</a:t>
            </a:r>
            <a:br/>
            <a:r>
              <a:t>Fast-Track</a:t>
            </a:r>
          </a:p>
        </p:txBody>
      </p:sp>
      <p:sp>
        <p:nvSpPr>
          <p:cNvPr id="20" name="TextBox 19"/>
          <p:cNvSpPr txBox="1"/>
          <p:nvPr/>
        </p:nvSpPr>
        <p:spPr>
          <a:xfrm>
            <a:off x="7498080" y="4023360"/>
            <a:ext cx="1874519" cy="91440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Priority BAA/DPA review</a:t>
            </a:r>
            <a:br/>
            <a:r>
              <a:t>Week 1 start, not queued</a:t>
            </a:r>
          </a:p>
        </p:txBody>
      </p:sp>
      <p:sp>
        <p:nvSpPr>
          <p:cNvPr id="21" name="Rounded Rectangle 20"/>
          <p:cNvSpPr/>
          <p:nvPr/>
        </p:nvSpPr>
        <p:spPr>
          <a:xfrm>
            <a:off x="9692640" y="2011680"/>
            <a:ext cx="2148840" cy="32004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69880" y="2286000"/>
            <a:ext cx="594360" cy="59436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200" b="1">
                <a:solidFill>
                  <a:srgbClr val="FFFFFF"/>
                </a:solidFill>
                <a:latin typeface="Calibri"/>
              </a:defRPr>
            </a:pPr>
            <a:r>
              <a:t>5</a:t>
            </a:r>
          </a:p>
        </p:txBody>
      </p:sp>
      <p:sp>
        <p:nvSpPr>
          <p:cNvPr id="23" name="TextBox 22"/>
          <p:cNvSpPr txBox="1"/>
          <p:nvPr/>
        </p:nvSpPr>
        <p:spPr>
          <a:xfrm>
            <a:off x="9829800" y="3108960"/>
            <a:ext cx="1874519" cy="731520"/>
          </a:xfrm>
          <a:prstGeom prst="rect">
            <a:avLst/>
          </a:prstGeom>
          <a:noFill/>
        </p:spPr>
        <p:txBody>
          <a:bodyPr wrap="square">
            <a:spAutoFit/>
          </a:bodyPr>
          <a:lstStyle/>
          <a:p>
            <a:pPr algn="ctr">
              <a:lnSpc>
                <a:spcPts val="1800"/>
              </a:lnSpc>
              <a:spcAft>
                <a:spcPts val="0"/>
              </a:spcAft>
              <a:defRPr sz="1500" b="1">
                <a:solidFill>
                  <a:srgbClr val="0F172A"/>
                </a:solidFill>
                <a:latin typeface="Calibri"/>
              </a:defRPr>
            </a:pPr>
            <a:r>
              <a:t>Go/No-Go</a:t>
            </a:r>
            <a:br/>
            <a:r>
              <a:t>Authority</a:t>
            </a:r>
          </a:p>
        </p:txBody>
      </p:sp>
      <p:sp>
        <p:nvSpPr>
          <p:cNvPr id="24" name="TextBox 23"/>
          <p:cNvSpPr txBox="1"/>
          <p:nvPr/>
        </p:nvSpPr>
        <p:spPr>
          <a:xfrm>
            <a:off x="9829800" y="4023360"/>
            <a:ext cx="1874519" cy="91440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Named decision-maker for</a:t>
            </a:r>
            <a:br/>
            <a:r>
              <a:t>the Week 12 review</a:t>
            </a:r>
          </a:p>
        </p:txBody>
      </p:sp>
      <p:sp>
        <p:nvSpPr>
          <p:cNvPr id="25" name="Rounded Rectangle 24"/>
          <p:cNvSpPr/>
          <p:nvPr/>
        </p:nvSpPr>
        <p:spPr>
          <a:xfrm>
            <a:off x="1371600" y="5486400"/>
            <a:ext cx="9418320" cy="8229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0">
                <a:solidFill>
                  <a:srgbClr val="0F172A"/>
                </a:solidFill>
                <a:latin typeface="Calibri"/>
              </a:defRPr>
            </a:pPr>
            <a:r>
              <a:t>Cost of Inaction: Customers build internally, generic platforms add surface-level features,</a:t>
            </a:r>
            <a:br/>
            <a:r>
              <a:t>and the AI governance window closes — making this opportunity significantly harder in 12 months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058400" cy="914400"/>
          </a:xfrm>
          <a:prstGeom prst="rect">
            <a:avLst/>
          </a:prstGeom>
          <a:noFill/>
        </p:spPr>
        <p:txBody>
          <a:bodyPr wrap="square">
            <a:spAutoFit/>
          </a:bodyPr>
          <a:lstStyle/>
          <a:p>
            <a:pPr algn="ctr">
              <a:lnSpc>
                <a:spcPts val="5759"/>
              </a:lnSpc>
              <a:spcAft>
                <a:spcPts val="0"/>
              </a:spcAft>
              <a:defRPr sz="4800" b="1">
                <a:solidFill>
                  <a:srgbClr val="0F172A"/>
                </a:solidFill>
                <a:latin typeface="Calibri"/>
              </a:defRPr>
            </a:pPr>
            <a:r>
              <a:t>Live Demo</a:t>
            </a:r>
          </a:p>
        </p:txBody>
      </p:sp>
      <p:sp>
        <p:nvSpPr>
          <p:cNvPr id="4" name="TextBox 3"/>
          <p:cNvSpPr txBox="1"/>
          <p:nvPr/>
        </p:nvSpPr>
        <p:spPr>
          <a:xfrm>
            <a:off x="914400" y="3017520"/>
            <a:ext cx="10058400" cy="548640"/>
          </a:xfrm>
          <a:prstGeom prst="rect">
            <a:avLst/>
          </a:prstGeom>
          <a:noFill/>
        </p:spPr>
        <p:txBody>
          <a:bodyPr wrap="square">
            <a:spAutoFit/>
          </a:bodyPr>
          <a:lstStyle/>
          <a:p>
            <a:pPr algn="ctr">
              <a:lnSpc>
                <a:spcPts val="2879"/>
              </a:lnSpc>
              <a:spcAft>
                <a:spcPts val="0"/>
              </a:spcAft>
              <a:defRPr sz="2400" b="0">
                <a:solidFill>
                  <a:srgbClr val="0D9488"/>
                </a:solidFill>
                <a:latin typeface="Calibri"/>
              </a:defRPr>
            </a:pPr>
            <a:r>
              <a:t>Interactive Prototype Walkthrough</a:t>
            </a:r>
          </a:p>
        </p:txBody>
      </p:sp>
      <p:sp>
        <p:nvSpPr>
          <p:cNvPr id="5" name="Rectangle 4"/>
          <p:cNvSpPr/>
          <p:nvPr/>
        </p:nvSpPr>
        <p:spPr>
          <a:xfrm>
            <a:off x="5029200" y="3840480"/>
            <a:ext cx="210312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4206240"/>
            <a:ext cx="22860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1. Lens Dashboard</a:t>
            </a:r>
          </a:p>
        </p:txBody>
      </p:sp>
      <p:sp>
        <p:nvSpPr>
          <p:cNvPr id="7" name="TextBox 6"/>
          <p:cNvSpPr txBox="1"/>
          <p:nvPr/>
        </p:nvSpPr>
        <p:spPr>
          <a:xfrm>
            <a:off x="5669280" y="4251960"/>
            <a:ext cx="4572000" cy="365760"/>
          </a:xfrm>
          <a:prstGeom prst="rect">
            <a:avLst/>
          </a:prstGeom>
          <a:noFill/>
        </p:spPr>
        <p:txBody>
          <a:bodyPr wrap="square">
            <a:spAutoFit/>
          </a:bodyPr>
          <a:lstStyle/>
          <a:p>
            <a:pPr algn="l">
              <a:lnSpc>
                <a:spcPts val="1560"/>
              </a:lnSpc>
              <a:spcAft>
                <a:spcPts val="0"/>
              </a:spcAft>
              <a:defRPr sz="1300" b="0">
                <a:solidFill>
                  <a:srgbClr val="6B7280"/>
                </a:solidFill>
                <a:latin typeface="Calibri"/>
              </a:defRPr>
            </a:pPr>
            <a:r>
              <a:t>Product entry point and navigation</a:t>
            </a:r>
          </a:p>
        </p:txBody>
      </p:sp>
      <p:sp>
        <p:nvSpPr>
          <p:cNvPr id="8" name="Rounded Rectangle 7"/>
          <p:cNvSpPr/>
          <p:nvPr/>
        </p:nvSpPr>
        <p:spPr>
          <a:xfrm>
            <a:off x="3200400" y="4800600"/>
            <a:ext cx="22860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2. Triage Queue</a:t>
            </a:r>
          </a:p>
        </p:txBody>
      </p:sp>
      <p:sp>
        <p:nvSpPr>
          <p:cNvPr id="9" name="TextBox 8"/>
          <p:cNvSpPr txBox="1"/>
          <p:nvPr/>
        </p:nvSpPr>
        <p:spPr>
          <a:xfrm>
            <a:off x="5669280" y="4846320"/>
            <a:ext cx="4572000" cy="365760"/>
          </a:xfrm>
          <a:prstGeom prst="rect">
            <a:avLst/>
          </a:prstGeom>
          <a:noFill/>
        </p:spPr>
        <p:txBody>
          <a:bodyPr wrap="square">
            <a:spAutoFit/>
          </a:bodyPr>
          <a:lstStyle/>
          <a:p>
            <a:pPr algn="l">
              <a:lnSpc>
                <a:spcPts val="1560"/>
              </a:lnSpc>
              <a:spcAft>
                <a:spcPts val="0"/>
              </a:spcAft>
              <a:defRPr sz="1300" b="0">
                <a:solidFill>
                  <a:srgbClr val="6B7280"/>
                </a:solidFill>
                <a:latin typeface="Calibri"/>
              </a:defRPr>
            </a:pPr>
            <a:r>
              <a:t>AI-flagged cases, severity sorting, SLA tracking</a:t>
            </a:r>
          </a:p>
        </p:txBody>
      </p:sp>
      <p:sp>
        <p:nvSpPr>
          <p:cNvPr id="10" name="Rounded Rectangle 9"/>
          <p:cNvSpPr/>
          <p:nvPr/>
        </p:nvSpPr>
        <p:spPr>
          <a:xfrm>
            <a:off x="3200400" y="5394960"/>
            <a:ext cx="22860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Calibri"/>
              </a:defRPr>
            </a:pPr>
            <a:r>
              <a:t>3. Case Detail</a:t>
            </a:r>
          </a:p>
        </p:txBody>
      </p:sp>
      <p:sp>
        <p:nvSpPr>
          <p:cNvPr id="11" name="TextBox 10"/>
          <p:cNvSpPr txBox="1"/>
          <p:nvPr/>
        </p:nvSpPr>
        <p:spPr>
          <a:xfrm>
            <a:off x="5669280" y="5440680"/>
            <a:ext cx="4572000" cy="365760"/>
          </a:xfrm>
          <a:prstGeom prst="rect">
            <a:avLst/>
          </a:prstGeom>
          <a:noFill/>
        </p:spPr>
        <p:txBody>
          <a:bodyPr wrap="square">
            <a:spAutoFit/>
          </a:bodyPr>
          <a:lstStyle/>
          <a:p>
            <a:pPr algn="l">
              <a:lnSpc>
                <a:spcPts val="1560"/>
              </a:lnSpc>
              <a:spcAft>
                <a:spcPts val="0"/>
              </a:spcAft>
              <a:defRPr sz="1300" b="0">
                <a:solidFill>
                  <a:srgbClr val="6B7280"/>
                </a:solidFill>
                <a:latin typeface="Calibri"/>
              </a:defRPr>
            </a:pPr>
            <a:r>
              <a:t>Transcript evidence, MedWatch fields, regulatory decision</a:t>
            </a:r>
          </a:p>
        </p:txBody>
      </p:sp>
      <p:sp>
        <p:nvSpPr>
          <p:cNvPr id="12" name="Rectangle 11"/>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914400"/>
          </a:xfrm>
          <a:prstGeom prst="rect">
            <a:avLst/>
          </a:prstGeom>
          <a:noFill/>
        </p:spPr>
        <p:txBody>
          <a:bodyPr wrap="square">
            <a:spAutoFit/>
          </a:bodyPr>
          <a:lstStyle/>
          <a:p>
            <a:pPr algn="ctr">
              <a:lnSpc>
                <a:spcPts val="5759"/>
              </a:lnSpc>
              <a:spcAft>
                <a:spcPts val="0"/>
              </a:spcAft>
              <a:defRPr sz="4800" b="1">
                <a:solidFill>
                  <a:srgbClr val="0F172A"/>
                </a:solidFill>
                <a:latin typeface="Calibri"/>
              </a:defRPr>
            </a:pPr>
            <a:r>
              <a:t>Thank You</a:t>
            </a:r>
          </a:p>
        </p:txBody>
      </p:sp>
      <p:sp>
        <p:nvSpPr>
          <p:cNvPr id="4" name="TextBox 3"/>
          <p:cNvSpPr txBox="1"/>
          <p:nvPr/>
        </p:nvSpPr>
        <p:spPr>
          <a:xfrm>
            <a:off x="914400" y="2926080"/>
            <a:ext cx="10058400" cy="548640"/>
          </a:xfrm>
          <a:prstGeom prst="rect">
            <a:avLst/>
          </a:prstGeom>
          <a:noFill/>
        </p:spPr>
        <p:txBody>
          <a:bodyPr wrap="square">
            <a:spAutoFit/>
          </a:bodyPr>
          <a:lstStyle/>
          <a:p>
            <a:pPr algn="ctr">
              <a:lnSpc>
                <a:spcPts val="2879"/>
              </a:lnSpc>
              <a:spcAft>
                <a:spcPts val="0"/>
              </a:spcAft>
              <a:defRPr sz="2400" b="0">
                <a:solidFill>
                  <a:srgbClr val="0D9488"/>
                </a:solidFill>
                <a:latin typeface="Calibri"/>
              </a:defRPr>
            </a:pPr>
            <a:r>
              <a:t>Questions &amp; Discussion</a:t>
            </a:r>
          </a:p>
        </p:txBody>
      </p:sp>
      <p:sp>
        <p:nvSpPr>
          <p:cNvPr id="5" name="Rectangle 4"/>
          <p:cNvSpPr/>
          <p:nvPr/>
        </p:nvSpPr>
        <p:spPr>
          <a:xfrm>
            <a:off x="5029200" y="3657600"/>
            <a:ext cx="210312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14800"/>
            <a:ext cx="10058400" cy="457200"/>
          </a:xfrm>
          <a:prstGeom prst="rect">
            <a:avLst/>
          </a:prstGeom>
          <a:noFill/>
        </p:spPr>
        <p:txBody>
          <a:bodyPr wrap="square">
            <a:spAutoFit/>
          </a:bodyPr>
          <a:lstStyle/>
          <a:p>
            <a:pPr algn="ctr">
              <a:lnSpc>
                <a:spcPts val="2160"/>
              </a:lnSpc>
              <a:spcAft>
                <a:spcPts val="0"/>
              </a:spcAft>
              <a:defRPr sz="1800" b="0">
                <a:solidFill>
                  <a:srgbClr val="6B7280"/>
                </a:solidFill>
                <a:latin typeface="Calibri"/>
              </a:defRPr>
            </a:pPr>
            <a:r>
              <a:t>Poorva Mittal  |  Product Manager, AI Solutions</a:t>
            </a:r>
          </a:p>
        </p:txBody>
      </p:sp>
      <p:sp>
        <p:nvSpPr>
          <p:cNvPr id="7" name="Rounded Rectangle 6"/>
          <p:cNvSpPr/>
          <p:nvPr/>
        </p:nvSpPr>
        <p:spPr>
          <a:xfrm>
            <a:off x="1828800" y="4846320"/>
            <a:ext cx="2560320" cy="4572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$10B+ market</a:t>
            </a:r>
          </a:p>
        </p:txBody>
      </p:sp>
      <p:sp>
        <p:nvSpPr>
          <p:cNvPr id="8" name="TextBox 7"/>
          <p:cNvSpPr txBox="1"/>
          <p:nvPr/>
        </p:nvSpPr>
        <p:spPr>
          <a:xfrm>
            <a:off x="1920240" y="5394960"/>
            <a:ext cx="2377440" cy="54864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No HC-native AI</a:t>
            </a:r>
            <a:br/>
            <a:r>
              <a:t>compliance platform</a:t>
            </a:r>
          </a:p>
        </p:txBody>
      </p:sp>
      <p:sp>
        <p:nvSpPr>
          <p:cNvPr id="9" name="Rounded Rectangle 8"/>
          <p:cNvSpPr/>
          <p:nvPr/>
        </p:nvSpPr>
        <p:spPr>
          <a:xfrm>
            <a:off x="4846320" y="4846320"/>
            <a:ext cx="2560320" cy="4572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90-day pilot</a:t>
            </a:r>
          </a:p>
        </p:txBody>
      </p:sp>
      <p:sp>
        <p:nvSpPr>
          <p:cNvPr id="10" name="TextBox 9"/>
          <p:cNvSpPr txBox="1"/>
          <p:nvPr/>
        </p:nvSpPr>
        <p:spPr>
          <a:xfrm>
            <a:off x="4937760" y="5394960"/>
            <a:ext cx="2377440" cy="54864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2 partners,</a:t>
            </a:r>
            <a:br/>
            <a:r>
              <a:t>validated workflow</a:t>
            </a:r>
          </a:p>
        </p:txBody>
      </p:sp>
      <p:sp>
        <p:nvSpPr>
          <p:cNvPr id="11" name="Rounded Rectangle 10"/>
          <p:cNvSpPr/>
          <p:nvPr/>
        </p:nvSpPr>
        <p:spPr>
          <a:xfrm>
            <a:off x="7863840" y="4846320"/>
            <a:ext cx="2560320" cy="4572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18-24 mo advantage</a:t>
            </a:r>
          </a:p>
        </p:txBody>
      </p:sp>
      <p:sp>
        <p:nvSpPr>
          <p:cNvPr id="12" name="TextBox 11"/>
          <p:cNvSpPr txBox="1"/>
          <p:nvPr/>
        </p:nvSpPr>
        <p:spPr>
          <a:xfrm>
            <a:off x="7955280" y="5394960"/>
            <a:ext cx="2377440" cy="548640"/>
          </a:xfrm>
          <a:prstGeom prst="rect">
            <a:avLst/>
          </a:prstGeom>
          <a:noFill/>
        </p:spPr>
        <p:txBody>
          <a:bodyPr wrap="square">
            <a:spAutoFit/>
          </a:bodyPr>
          <a:lstStyle/>
          <a:p>
            <a:pPr algn="ctr">
              <a:lnSpc>
                <a:spcPts val="1439"/>
              </a:lnSpc>
              <a:spcAft>
                <a:spcPts val="0"/>
              </a:spcAft>
              <a:defRPr sz="1200" b="0">
                <a:solidFill>
                  <a:srgbClr val="6B7280"/>
                </a:solidFill>
                <a:latin typeface="Calibri"/>
              </a:defRPr>
            </a:pPr>
            <a:r>
              <a:t>Infinitus moat is</a:t>
            </a:r>
            <a:br/>
            <a:r>
              <a:t>real and compounding</a:t>
            </a:r>
          </a:p>
        </p:txBody>
      </p:sp>
      <p:sp>
        <p:nvSpPr>
          <p:cNvPr id="13" name="Rectangle 12"/>
          <p:cNvSpPr/>
          <p:nvPr/>
        </p:nvSpPr>
        <p:spPr>
          <a:xfrm>
            <a:off x="0" y="6784848"/>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